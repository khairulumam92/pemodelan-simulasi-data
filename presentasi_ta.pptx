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Agent-Based Simulation of Cyber Threat Propagation</a:t>
            </a:r>
            <a:br/>
            <a:r>
              <a:t>in a Local Server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DC3C7"/>
                </a:solidFill>
                <a:latin typeface="Calibri"/>
              </a:defRPr>
            </a:pPr>
            <a:r>
              <a:t>Studi Kasus: Efektivitas Patch Management dan User Training</a:t>
            </a:r>
            <a:br/>
            <a:r>
              <a:t>terhadap Tingkat Kerentanan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DC3C7"/>
                </a:solidFill>
                <a:latin typeface="Calibri"/>
              </a:defRPr>
            </a:pPr>
            <a:r>
              <a:t>Moh. Khairul Umam | 202310370311448</a:t>
            </a:r>
            <a:br/>
            <a:r>
              <a:t>Pemodelan dan Simulasi Data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Pemodelan dan Simulasi - Semester 6 |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Agenda Presentasi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1.  Latar Belakang &amp; Tujuan Penelitian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2.  Pembuatan Dataset Dummy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3.  Model Agent-Based Simulation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4.  Arsitektur Sistem (State Machine, Vulnerability Evolution)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5.  Skenario Simulasi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6.  Penjelasan Source Code (Parameter, Agent, Model, Runner)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7.  Hasil Simulasi &amp; Visualisasi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8.  Dashboard Streamlit (Cara Kerja &amp; Fitur)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9.  Publikasi Jurnal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10. Kesimpulan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Latar Belakang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Permasalahan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Ancaman siber (malware, ransomware, APT) semakin canggih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Organisasi kesulitan mengukur efektivitas strategi mitigasi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Patch management dan user training adalah dua intervensi utama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Diperlukan model kuantitatif untuk membandingkan keduanya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Solusi: Agent-Based 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ABM memungkinkan simulasi bottom-up dari perilaku individu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Setiap server direpresentasikan sebagai agen otonom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Intervensi dapat diuji dalam lingkungan terkontrol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Monte Carlo runs memberikan robust statistics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Tujuan Penelitian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Tujuan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Membangun model ABM untuk propagasi ancaman siber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Mengukur efektivitas patch management secara kuantitatif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Mengukur efektivitas user training secara kuantitatif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Membandingkan efektivitas kombinasi kedua intervensi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Model simulasi yang reproducible (Mesa framework)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4 skenario dengan 30 Monte Carlo runs masing-masing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 visualisasi publikasi (time-series, boxplot, heatmap, dll)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Dashboard interaktif untuk eksplorasi parameter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Paper jurnal siap submit (format JJCIT)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Pembuatan Dataset Dummy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Proses Pembuatan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Dataset dihasilkan dari simulasi ABM, bukan data lapangan (dummy)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Setiap skenario dijalankan 30 kali (Monte Carlo) dengan random seed berbeda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Setiap run: 200 langkah waktu (time steps)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Data dikumpulkan per step: jumlah node tiap state, vulnerability rata-rata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Total: 4 skenario x 30 runs x 200 steps = 24,000 baris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31920"/>
            <a:ext cx="10972800" cy="22860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424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# Struktur data yang dihasilkan (data_raw_simulasi.csv):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skenario       | run_id | langkah | n_susceptible | n_infected | ...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Baseline       | 1      | 1       | 45            | 5          | ...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Baseline       | 1      | 2       | 44            | 6          | ...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Patch Only     | 1      | 1       | 46            | 4          | ...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Dataset yang Dihasilkan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data/raw/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data_raw_simulasi.csv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  24,000 baris, 9 kolom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  Data mentah setiap step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data_ringkasan_skenario.csv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  120 baris (4 skenario x 30 runs)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  Ringkasan per run (peak, reduction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data/processed/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data_analisis_statistik.csv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  Hasil uji Mann-Whitney U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  Cohen d effect size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  p-value per perbandingan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Model Agent-Based Simulation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State Machine Agen (ServerNode)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Setiap node server memiliki 4 state: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657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783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Susceptible 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Node rentan, dapat terinfeksi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834640"/>
            <a:ext cx="365760" cy="36576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788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Infected (I)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788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Node terkompromi, menyebarkan threat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840480"/>
            <a:ext cx="365760" cy="3657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Patched (P)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Node diamankan dengan patch, imun sementara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846320"/>
            <a:ext cx="365760" cy="36576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800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Recovered (R)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Node pulih, imun temporer sebelum kembali ke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Transisi: S -&gt; I (terinfeksi) | I -&gt; R (recovery) | S -&gt; P (patching) | P -&gt; S (patch decay) | R -&gt; S (imunity loss)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Vulnerability Evolution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Fungsi evolusi kerentanan (vulnerability) setiap agen: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0972800" cy="41148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4241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V(t+1) = V(t) x (1 - alpha x PL) x (1 - tau x UA) + epsilon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Parameter: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  alpha  = Patch effectiveness (0.60)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  PL     = Patch level (0 atau 1)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  tau    = Training effectiveness (0.50)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  UA     = User awareness (0 atau 1)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  epsilon = External threat factor (0.01)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Infection Probability: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  P(infeksi) = beta x V x (1 - UA) x (N_infected_neighbors / N_neighbors)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Skenario Simulasi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Empat Skenario Percobaan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9728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73152" cy="100584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Skenario 1: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Tanpa intervensi | Kontrol. alpha=0, tau=0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6B"/>
                </a:solidFill>
                <a:latin typeface="Calibri"/>
              </a:defRPr>
            </a:pPr>
            <a:r>
              <a:t>30 Monte Carlo runs x 200 steps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109728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73152" cy="1005840"/>
          </a:xfrm>
          <a:prstGeom prst="rect">
            <a:avLst/>
          </a:prstGeom>
          <a:solidFill>
            <a:srgbClr val="FF7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Skenario 2: Patch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Hanya patch management | alpha=0.60, tau=0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7432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6B"/>
                </a:solidFill>
                <a:latin typeface="Calibri"/>
              </a:defRPr>
            </a:pPr>
            <a:r>
              <a:t>30 Monte Carlo runs x 200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49040"/>
            <a:ext cx="109728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49040"/>
            <a:ext cx="73152" cy="100584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Skenario 3: Training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Hanya user training | alpha=0, tau=0.50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9319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6B"/>
                </a:solidFill>
                <a:latin typeface="Calibri"/>
              </a:defRPr>
            </a:pPr>
            <a:r>
              <a:t>30 Monte Carlo runs x 200 steps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37760"/>
            <a:ext cx="109728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37760"/>
            <a:ext cx="73152" cy="10058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Skenario 4: Combined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Patch + Training | alpha=0.60, tau=0.50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1206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6B"/>
                </a:solidFill>
                <a:latin typeface="Calibri"/>
              </a:defRPr>
            </a:pPr>
            <a:r>
              <a:t>30 Monte Carlo runs x 200 steps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Penjelasan Source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Kode: Parameter Simulasi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0972800" cy="36576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424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N_AGENTS    = 50     # Jumlah node server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EDGE_PROB   = 0.08   # Probabilitas koneksi (Erdos-Renyi)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BETA        = 0.30   # Infection rate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GAMMA       = 0.05   # Recovery rate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EPSILON     = 0.01   # External threat (vulnerability baru)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ALPHA       = 0.60   # Patch effectiveness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TAU         = 0.50   # Training effectiveness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N_STEPS     = 200    # Durasi simulasi</a:t>
            </a:r>
          </a:p>
          <a:p>
            <a:pPr>
              <a:spcAft>
                <a:spcPts val="200"/>
              </a:spcAft>
              <a:defRPr sz="1300">
                <a:solidFill>
                  <a:srgbClr val="98C379"/>
                </a:solidFill>
                <a:latin typeface="Consolas"/>
              </a:defRPr>
            </a:pPr>
            <a:r>
              <a:t>N_RUNS      = 30     # Monte Carlo repetitions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Parameter disimpan dalam dictionary (skenario_kwargs) untuk setiap skenario.</a:t>
            </a:r>
            <a:br/>
            <a:r>
              <a:t>Nilai alpha dan tau diatur 0 atau sesuai efektivitas tergantung skenario.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Kode: Kelas ServerNode (Agent)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class ServerNode(Agent):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def __init__(self, model, alpha=0.0, tau=0.0):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super().__init__(model)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self.state = NodeState.SUSCEPTIBLE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self.vulnerability = 0.5   # Nilai awal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self.user_awareness = 0.0  # 0 = tidak terlatih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self.alpha = alpha         # Patch effectiveness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self.tau = tau             # Training effectiveness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def step(self):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# 1. Update vulnerability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self.vulnerability = (self.vulnerability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* (1 - self.alpha * self.patch_level)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* (1 - self.tau * self.user_awareness)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+ EPSILON)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# 2. Infection logic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if self.state == NodeState.SUSCEPTIBLE: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infected_neighbors = sum(1 for n in self.neighbors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                         if n.state == NodeState.INFECTED)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prob = (BETA * self.vulnerability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        * (1 - self.user_awareness)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        * infected_neighbors / max(len(self.neighbors), 1))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if random.random() &lt; prob: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    self.state = NodeState.INFECTED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Kode: Kelas CyberThreatModel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class CyberThreatModel(Model):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def __init__(self, seed=42, alpha=0.0, tau=0.0):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super().__init__(seed=seed)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self.graph = nx.erdos_renyi_graph(N_AGENTS, EDGE_PROB, seed=seed)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self.agents_dict = {}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# Create agents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for i in range(N_AGENTS):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agent = ServerNode(self, alpha, tau)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self.agents_dict[i] = agent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# Set neighbors from graph edges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for node_id, agent in self.agents_dict.items():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agent.neighbors = [self.agents_dict[n]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                   for n in self.graph.neighbors(node_id)]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# Initial infection: infect 5 nodes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initial_infected = random.sample(list(self.agents_dict.values()), 5)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for agent in initial_infected: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agent.state = NodeState.INFECTED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# Data collector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self.datacollector = DataCollector(...)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Kode: Monte Carlo Runner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430000" cy="41148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8813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def run_scenario(alpha, tau, n_runs=30, n_steps=200):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all_runs_data = []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for run_id in range(1, n_runs + 1):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    model = CyberThreatModel(seed=run_id * 10, alpha=alpha, tau=tau)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    for step in range(n_steps):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        model.step()  # Semua agent melakukan step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    # Kumpulkan data dari DataCollector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    df = model.datacollector.get_agent_vars_dataframe()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    all_runs_data.append(df)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# Gabungkan semua runs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df_all = pd.concat(all_runs_data, keys=range(1, n_runs + 1))</a:t>
            </a:r>
          </a:p>
          <a:p>
            <a:pPr>
              <a:spcAft>
                <a:spcPts val="200"/>
              </a:spcAft>
              <a:defRPr sz="1200">
                <a:solidFill>
                  <a:srgbClr val="98C379"/>
                </a:solidFill>
                <a:latin typeface="Consolas"/>
              </a:defRPr>
            </a:pPr>
            <a:r>
              <a:t>    return df_all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Fungsi ini dipanggil 4 kali (satu per skenario) dengan parameter alpha dan tau berbeda.</a:t>
            </a:r>
            <a:br/>
            <a:r>
              <a:t>Hasil: 24,000 baris data gabungan untuk analisis.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Hasil Simulasi &amp; Visualisasi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Hasil Agregat (Rata-rata 30 Runs per Skenario)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37160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Peak Infected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Mean Infected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Mean Vulnerability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Reduction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7.50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Patch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Training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6.50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3.25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13.3%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3E50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3E50"/>
                          </a:solidFill>
                        </a:defRPr>
                      </a:pPr>
                      <a:r>
                        <a:t>5.00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3E50"/>
                          </a:solidFill>
                        </a:defRPr>
                      </a:pPr>
                      <a:r>
                        <a:t>2.45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3E50"/>
                          </a:solidFill>
                        </a:defRPr>
                      </a:pPr>
                      <a:r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3E50"/>
                          </a:solidFill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6B"/>
                </a:solidFill>
                <a:latin typeface="Calibri"/>
              </a:defRPr>
            </a:pPr>
            <a:r>
              <a:t>Combined Intervention: 33.3% reduksi peak infection (terbaik)</a:t>
            </a:r>
            <a:br/>
            <a:r>
              <a:t>Patch Only: 20.0% | Training Only: 13.3% | Semua pairwise signifikan (p &lt; 0.001)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Visualisasi 1: Time-Series Infeksi &amp; Vulnerability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39746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tin typeface="Calibri"/>
              </a:defRPr>
            </a:pPr>
            <a:r>
              <a:t>Figure 1: Rata-rata jumlah node terinfeksi (kiri) dan vulnerability (kanan) dari 30 Monte Carlo runs.</a:t>
            </a:r>
            <a:br/>
            <a:r>
              <a:t>Area transparan = +/- 1 standard deviation.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Visualisasi 2: Efektivitas Intervensi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effective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39746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tin typeface="Calibri"/>
              </a:defRPr>
            </a:pPr>
            <a:r>
              <a:t>Figure 2: Box plot distribusi puncak infeksi (kiri) dan bar chart reduksi vs baseline (kanan).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Visualisasi 3: Distribusi State 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stat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0676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tin typeface="Calibri"/>
              </a:defRPr>
            </a:pPr>
            <a:r>
              <a:t>Figure 3: Stacked area chart distribusi 4 state node per skenario (rata-rata 30 runs).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Visualisasi 4: Topologi Jaringan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network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229600" cy="28315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tin typeface="Calibri"/>
              </a:defRPr>
            </a:pPr>
            <a:r>
              <a:t>Figure 4: Snapshot topologi jaringan di 4 time steps. Warna node = state agent.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Visualisasi 5: Heatmap Korelasi &amp; Evolusi Kerentanan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5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400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tin typeface="Calibri"/>
              </a:defRPr>
            </a:pPr>
            <a:r>
              <a:t>Figure 5: (a) Matriks korelasi variabel simulasi. (b) Evolusi kerentanan per skenario.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Uji Statistik: Mann-Whitney U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Semua pairwise comparison signifikan secara statistik: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0" y="18288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Comparison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 Statistic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Significant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Baseline vs Patch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1824.5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***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Baseline vs Training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1692.0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***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Baseline vs Combined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2016.0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***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Metode: Mann-Whitney U Test (non-parametrik)</a:t>
            </a:r>
            <a:br/>
            <a:r>
              <a:t>Uji dilakukan pada distribusi puncak infeksi dari 30 runs per skenario</a:t>
            </a:r>
            <a:br/>
            <a:r>
              <a:t>Hasil: Semua intervensi signifikan mengurangi infeksi vs baseline (p &lt; 0.001)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 Streamlit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Cara Kerja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Alur Kerja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User mengatur parameter di sidebar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Sidebar: JARINGAN, DINAMIKA, INTERVENSI, EKSEKUSI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Tombol "Jalankan Simulasi" memicu streamlit rerun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Dashboard menjalankan 4 skenario sekaligus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Hasil ditampilkan di 5 tab visualisasi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Teknis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Framework: Streamlit (Python)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Backend: Mesa ABM + NetworkX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Visualisasi: Matplotlib + Seaborn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Data disimpan di session state (st.session_state)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Export CSV untuk analisis lanjutan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Fitur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Sidebar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JARINGAN: N_AGENTS, EDGE_PROB, initial infections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DINAMIKA: BETA, GAMMA, EPSILON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INTERVENSI: ALPHA (patch), TAU (training)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EKSEKUSI: N_STEPS, N_RUNS, random seed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Tombol "Jalankan Simulasi"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5 Tab Visualisasi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1. Time-Series: Infeksi &amp; vulnerability over time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2. Distribusi: Histogram puncak infeksi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3. Topologi Jaringan: Network snapshot 4 time points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4. Heatmap: Evolusi kerentanan per run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5. Data Raw: Tabel data + download CSV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Kode Dashboard: Main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# streamlit_dashboard.py - Struktur utama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import streamlit as st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from mesa import Agent, Model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# ---- SIDEBAR ----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with st.sidebar: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N_AGENTS = st.number_input("Jumlah Node", 10, 200, 50)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BETA     = st.slider("Infection Rate", 0.0, 1.0, 0.30)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ALPHA    = st.slider("Patch Effectiveness", 0.0, 1.0, 0.60)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if st.button("Jalankan Simulasi"):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# Run all 4 scenarios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results = {}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for skenario, kwargs in skenario_list: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df = run_scenario(**kwargs)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    results[skenario] = df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    st.session_state.results = results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# ---- MAIN PANEL ----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tab1, tab2, tab3, tab4, tab5 = st.tabs([...])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with tab1: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st.pyplot(fig_timeseries)  # Matplotlib figure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with tab2: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st.pyplot(fig_distribution)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with tab5: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st.dataframe(df)           # Raw data table</a:t>
            </a:r>
          </a:p>
          <a:p>
            <a:pPr>
              <a:spcAft>
                <a:spcPts val="200"/>
              </a:spcAft>
              <a:defRPr sz="1100">
                <a:solidFill>
                  <a:srgbClr val="98C379"/>
                </a:solidFill>
                <a:latin typeface="Consolas"/>
              </a:defRPr>
            </a:pPr>
            <a:r>
              <a:t>    st.download_button("Download CSV", data_csv)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Publikasi Jurnal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Paper Jurnal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Format &amp;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Jurnal: JJCIT (Jordanian Journal of Computers</a:t>
            </a:r>
            <a:br/>
            <a:r>
              <a:t>  and Information Technology)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Format: IEEE-style references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Template: MS Word .doc JJCIT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Maks: 16 halaman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Bahasa: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6B"/>
                </a:solidFill>
                <a:latin typeface="Calibri"/>
              </a:defRPr>
            </a:pPr>
            <a:r>
              <a:t>Konten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7 sections: Introduction s/d Conclusion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 figure publikasi (300 DPI, print-ready)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 tabel (parameter, hasil, statistik)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18 referensi (2022-2025, real &amp; terverifikasi)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Lokasi: paper/manuscript/paper_jjcit.docx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Struktur Paper Jurnal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4864" cy="5029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533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t>1. Introduction - Latar belakang, motivasi, kontribusi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097280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864" cy="5029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t>2. Related Work - ABM cybersecurity, patch mgmt, training, SIR models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54864" cy="5029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t>3. Methodology - Model ABM, state machine, vulnerability equation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00399"/>
            <a:ext cx="1097280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200399"/>
            <a:ext cx="54864" cy="5029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73551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t>4. Experimental Setup - 4 skenario, parameter 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40480"/>
            <a:ext cx="1097280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840480"/>
            <a:ext cx="54864" cy="5029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136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t>5. Results and Analysis - 5 figures + 3 tables + Mann-Whitney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80560"/>
            <a:ext cx="1097280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480560"/>
            <a:ext cx="54864" cy="5029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537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t>6. Discussion - Implikasi, limitasi, future 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120639"/>
            <a:ext cx="1097280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120639"/>
            <a:ext cx="54864" cy="5029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193791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  <a:latin typeface="Calibri"/>
              </a:defRPr>
            </a:pPr>
            <a:r>
              <a:t>7. Conclusion - 4 temuan utama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Referensi Kunci (2022-2025)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[1] Chernikova et al. (2023) - Epidemiological malware models. Applied Network Science.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391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[3] Aftabi et al. (2025) - ABM framework for security management. Expert Systems with Applications.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249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[5] Do Xuan et al. (2025) - Two-stage APT malware propagation. Neural Computing &amp; Applications.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107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[12] Woods &amp; Seymour (2024) - Meta-review of security control effectiveness. J. Cyber Policy.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965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[15] Prummer et al. (2024) - Systematic review of cybersecurity training. Computers &amp; Security.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0916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7823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[18] ter Hoeven et al. (2025) - Mesa 3: ABM with Python. JOSS.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Total: 18 referensi dari 2022-2025 | Semua real dengan DOI terverifikasi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Kesimpulan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Kesimpulan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4864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C3E50"/>
                </a:solidFill>
                <a:latin typeface="Calibri"/>
              </a:defRPr>
            </a:pPr>
            <a:r>
              <a:t>1. Patch Management reduksi peak infection 20.0% vs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54864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C3E50"/>
                </a:solidFill>
                <a:latin typeface="Calibri"/>
              </a:defRPr>
            </a:pPr>
            <a:r>
              <a:t>2. User Training reduksi peak infection 13.3% vs Baseline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C3E50"/>
                </a:solidFill>
                <a:latin typeface="Calibri"/>
              </a:defRPr>
            </a:pPr>
            <a:r>
              <a:t>3. Combined Intervention reduksi 33.3% - terbaik &amp; sinergis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566160"/>
            <a:ext cx="54864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C3E50"/>
                </a:solidFill>
                <a:latin typeface="Calibri"/>
              </a:defRPr>
            </a:pPr>
            <a:r>
              <a:t>4. Semua pairwise signifikan (Mann-Whitney, p &lt; 0.001)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9768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297680"/>
            <a:ext cx="54864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C3E50"/>
                </a:solidFill>
                <a:latin typeface="Calibri"/>
              </a:defRPr>
            </a:pPr>
            <a:r>
              <a:t>5. Dashboard interaktif untuk eksplorasi parameter real-time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029200"/>
            <a:ext cx="109728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029200"/>
            <a:ext cx="54864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C3E50"/>
                </a:solidFill>
                <a:latin typeface="Calibri"/>
              </a:defRPr>
            </a:pPr>
            <a:r>
              <a:t>6. Paper jurnal siap submit (format JJCIT, 18 referensi)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DC3C7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DC3C7"/>
                </a:solidFill>
                <a:latin typeface="Calibri"/>
              </a:defRPr>
            </a:pPr>
            <a:r>
              <a:t>Moh. Khairul Umam | 202310370311448 | Pemodelan dan Simulasi Data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github.com/Khairulumam92/Pemodelan-Simulasi-Data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
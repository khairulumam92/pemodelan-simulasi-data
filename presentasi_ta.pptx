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292608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058400" cy="1371600"/>
          </a:xfrm>
          <a:prstGeom prst="rect">
            <a:avLst/>
          </a:prstGeom>
          <a:noFill/>
        </p:spPr>
        <p:txBody>
          <a:bodyPr wrap="square">
            <a:spAutoFit/>
          </a:bodyPr>
          <a:lstStyle/>
          <a:p>
            <a:pPr algn="ctr">
              <a:defRPr sz="3600" b="1">
                <a:solidFill>
                  <a:srgbClr val="FFFFFF"/>
                </a:solidFill>
                <a:latin typeface="Calibri"/>
              </a:defRPr>
            </a:pPr>
            <a:r>
              <a:t>Agent-Based Simulation of Cyber Threat Propagation</a:t>
            </a:r>
            <a:br/>
            <a:r>
              <a:t>in a Local Server Network</a:t>
            </a:r>
          </a:p>
        </p:txBody>
      </p:sp>
      <p:sp>
        <p:nvSpPr>
          <p:cNvPr id="4" name="TextBox 3"/>
          <p:cNvSpPr txBox="1"/>
          <p:nvPr/>
        </p:nvSpPr>
        <p:spPr>
          <a:xfrm>
            <a:off x="914400" y="3200400"/>
            <a:ext cx="10058400" cy="914400"/>
          </a:xfrm>
          <a:prstGeom prst="rect">
            <a:avLst/>
          </a:prstGeom>
          <a:noFill/>
        </p:spPr>
        <p:txBody>
          <a:bodyPr wrap="square">
            <a:spAutoFit/>
          </a:bodyPr>
          <a:lstStyle/>
          <a:p>
            <a:pPr algn="ctr">
              <a:defRPr sz="1800" b="0">
                <a:solidFill>
                  <a:srgbClr val="BDC3C7"/>
                </a:solidFill>
                <a:latin typeface="Calibri"/>
              </a:defRPr>
            </a:pPr>
            <a:r>
              <a:t>Studi Kasus: Efektivitas Patch Management dan User Training</a:t>
            </a:r>
            <a:br/>
            <a:r>
              <a:t>terhadap Tingkat Kerentanan Server</a:t>
            </a:r>
          </a:p>
        </p:txBody>
      </p:sp>
      <p:sp>
        <p:nvSpPr>
          <p:cNvPr id="5" name="TextBox 4"/>
          <p:cNvSpPr txBox="1"/>
          <p:nvPr/>
        </p:nvSpPr>
        <p:spPr>
          <a:xfrm>
            <a:off x="914400" y="4389120"/>
            <a:ext cx="10058400" cy="731520"/>
          </a:xfrm>
          <a:prstGeom prst="rect">
            <a:avLst/>
          </a:prstGeom>
          <a:noFill/>
        </p:spPr>
        <p:txBody>
          <a:bodyPr wrap="square">
            <a:spAutoFit/>
          </a:bodyPr>
          <a:lstStyle/>
          <a:p>
            <a:pPr algn="ctr">
              <a:defRPr sz="1600" b="0">
                <a:solidFill>
                  <a:srgbClr val="BDC3C7"/>
                </a:solidFill>
                <a:latin typeface="Calibri"/>
              </a:defRPr>
            </a:pPr>
            <a:r>
              <a:t>Moh. Khairul Umam | 202310370311448</a:t>
            </a:r>
            <a:br/>
            <a:r>
              <a:t>Pemodelan dan Simulasi Data B</a:t>
            </a:r>
          </a:p>
        </p:txBody>
      </p:sp>
      <p:sp>
        <p:nvSpPr>
          <p:cNvPr id="6" name="TextBox 5"/>
          <p:cNvSpPr txBox="1"/>
          <p:nvPr/>
        </p:nvSpPr>
        <p:spPr>
          <a:xfrm>
            <a:off x="914400" y="5303520"/>
            <a:ext cx="10058400" cy="457200"/>
          </a:xfrm>
          <a:prstGeom prst="rect">
            <a:avLst/>
          </a:prstGeom>
          <a:noFill/>
        </p:spPr>
        <p:txBody>
          <a:bodyPr wrap="square">
            <a:spAutoFit/>
          </a:bodyPr>
          <a:lstStyle/>
          <a:p>
            <a:pPr algn="ctr">
              <a:defRPr sz="1400" b="0">
                <a:solidFill>
                  <a:srgbClr val="7F8C8D"/>
                </a:solidFill>
                <a:latin typeface="Calibri"/>
              </a:defRPr>
            </a:pPr>
            <a:r>
              <a:t>Pemodelan dan Simulasi - Semester 6 |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Agenda Presentasi</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10972800" cy="5029200"/>
          </a:xfrm>
          <a:prstGeom prst="rect">
            <a:avLst/>
          </a:prstGeom>
          <a:noFill/>
        </p:spPr>
        <p:txBody>
          <a:bodyPr wrap="square">
            <a:spAutoFit/>
          </a:bodyPr>
          <a:lstStyle/>
          <a:p>
            <a:pPr>
              <a:spcAft>
                <a:spcPts val="600"/>
              </a:spcAft>
              <a:defRPr sz="1800">
                <a:solidFill>
                  <a:srgbClr val="2C3E50"/>
                </a:solidFill>
                <a:latin typeface="Calibri"/>
              </a:defRPr>
            </a:pPr>
            <a:r>
              <a:t>1.  Latar Belakang &amp; Tujuan Penelitian</a:t>
            </a:r>
          </a:p>
          <a:p>
            <a:pPr>
              <a:spcAft>
                <a:spcPts val="600"/>
              </a:spcAft>
              <a:defRPr sz="1800">
                <a:solidFill>
                  <a:srgbClr val="2C3E50"/>
                </a:solidFill>
                <a:latin typeface="Calibri"/>
              </a:defRPr>
            </a:pPr>
            <a:r>
              <a:t>2.  Pembuatan Dataset Dummy</a:t>
            </a:r>
          </a:p>
          <a:p>
            <a:pPr>
              <a:spcAft>
                <a:spcPts val="600"/>
              </a:spcAft>
              <a:defRPr sz="1800">
                <a:solidFill>
                  <a:srgbClr val="2C3E50"/>
                </a:solidFill>
                <a:latin typeface="Calibri"/>
              </a:defRPr>
            </a:pPr>
            <a:r>
              <a:t>3.  Model Agent-Based Simulation</a:t>
            </a:r>
          </a:p>
          <a:p>
            <a:pPr>
              <a:spcAft>
                <a:spcPts val="600"/>
              </a:spcAft>
              <a:defRPr sz="1800">
                <a:solidFill>
                  <a:srgbClr val="2C3E50"/>
                </a:solidFill>
                <a:latin typeface="Calibri"/>
              </a:defRPr>
            </a:pPr>
            <a:r>
              <a:t>4.  Arsitektur Sistem (State Machine, Vulnerability Evolution)</a:t>
            </a:r>
          </a:p>
          <a:p>
            <a:pPr>
              <a:spcAft>
                <a:spcPts val="600"/>
              </a:spcAft>
              <a:defRPr sz="1800">
                <a:solidFill>
                  <a:srgbClr val="2C3E50"/>
                </a:solidFill>
                <a:latin typeface="Calibri"/>
              </a:defRPr>
            </a:pPr>
            <a:r>
              <a:t>5.  Skenario Simulasi</a:t>
            </a:r>
          </a:p>
          <a:p>
            <a:pPr>
              <a:spcAft>
                <a:spcPts val="600"/>
              </a:spcAft>
              <a:defRPr sz="1800">
                <a:solidFill>
                  <a:srgbClr val="2C3E50"/>
                </a:solidFill>
                <a:latin typeface="Calibri"/>
              </a:defRPr>
            </a:pPr>
            <a:r>
              <a:t>6.  Penjelasan Source Code (Parameter, Agent, Model, Runner)</a:t>
            </a:r>
          </a:p>
          <a:p>
            <a:pPr>
              <a:spcAft>
                <a:spcPts val="600"/>
              </a:spcAft>
              <a:defRPr sz="1800">
                <a:solidFill>
                  <a:srgbClr val="2C3E50"/>
                </a:solidFill>
                <a:latin typeface="Calibri"/>
              </a:defRPr>
            </a:pPr>
            <a:r>
              <a:t>7.  Hasil Simulasi &amp; Visualisasi</a:t>
            </a:r>
          </a:p>
          <a:p>
            <a:pPr>
              <a:spcAft>
                <a:spcPts val="600"/>
              </a:spcAft>
              <a:defRPr sz="1800">
                <a:solidFill>
                  <a:srgbClr val="2C3E50"/>
                </a:solidFill>
                <a:latin typeface="Calibri"/>
              </a:defRPr>
            </a:pPr>
            <a:r>
              <a:t>8.  Dashboard Streamlit (Cara Kerja &amp; Fitur)</a:t>
            </a:r>
          </a:p>
          <a:p>
            <a:pPr>
              <a:spcAft>
                <a:spcPts val="600"/>
              </a:spcAft>
              <a:defRPr sz="1800">
                <a:solidFill>
                  <a:srgbClr val="2C3E50"/>
                </a:solidFill>
                <a:latin typeface="Calibri"/>
              </a:defRPr>
            </a:pPr>
            <a:r>
              <a:t>9.  Kesimpulan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Latar Belakang</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5303520" cy="365760"/>
          </a:xfrm>
          <a:prstGeom prst="rect">
            <a:avLst/>
          </a:prstGeom>
          <a:noFill/>
        </p:spPr>
        <p:txBody>
          <a:bodyPr wrap="square">
            <a:spAutoFit/>
          </a:bodyPr>
          <a:lstStyle/>
          <a:p>
            <a:pPr algn="l">
              <a:defRPr sz="1800" b="1">
                <a:solidFill>
                  <a:srgbClr val="2C3E6B"/>
                </a:solidFill>
                <a:latin typeface="Calibri"/>
              </a:defRPr>
            </a:pPr>
            <a:r>
              <a:t>Permasalahan</a:t>
            </a:r>
          </a:p>
        </p:txBody>
      </p:sp>
      <p:sp>
        <p:nvSpPr>
          <p:cNvPr id="6" name="TextBox 5"/>
          <p:cNvSpPr txBox="1"/>
          <p:nvPr/>
        </p:nvSpPr>
        <p:spPr>
          <a:xfrm>
            <a:off x="54864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Ancaman siber (malware, ransomware, APT) semakin canggih</a:t>
            </a:r>
          </a:p>
          <a:p>
            <a:pPr>
              <a:spcAft>
                <a:spcPts val="600"/>
              </a:spcAft>
              <a:defRPr sz="1500">
                <a:solidFill>
                  <a:srgbClr val="2C3E50"/>
                </a:solidFill>
                <a:latin typeface="Calibri"/>
              </a:defRPr>
            </a:pPr>
            <a:r>
              <a:t>Organisasi kesulitan mengukur efektivitas strategi mitigasi</a:t>
            </a:r>
          </a:p>
          <a:p>
            <a:pPr>
              <a:spcAft>
                <a:spcPts val="600"/>
              </a:spcAft>
              <a:defRPr sz="1500">
                <a:solidFill>
                  <a:srgbClr val="2C3E50"/>
                </a:solidFill>
                <a:latin typeface="Calibri"/>
              </a:defRPr>
            </a:pPr>
            <a:r>
              <a:t>Patch management dan user training adalah dua intervensi utama</a:t>
            </a:r>
          </a:p>
          <a:p>
            <a:pPr>
              <a:spcAft>
                <a:spcPts val="600"/>
              </a:spcAft>
              <a:defRPr sz="1500">
                <a:solidFill>
                  <a:srgbClr val="2C3E50"/>
                </a:solidFill>
                <a:latin typeface="Calibri"/>
              </a:defRPr>
            </a:pPr>
            <a:r>
              <a:t>Diperlukan model kuantitatif untuk membandingkan keduanya</a:t>
            </a:r>
          </a:p>
        </p:txBody>
      </p:sp>
      <p:sp>
        <p:nvSpPr>
          <p:cNvPr id="7" name="TextBox 6"/>
          <p:cNvSpPr txBox="1"/>
          <p:nvPr/>
        </p:nvSpPr>
        <p:spPr>
          <a:xfrm>
            <a:off x="6217920" y="1188720"/>
            <a:ext cx="5303520" cy="365760"/>
          </a:xfrm>
          <a:prstGeom prst="rect">
            <a:avLst/>
          </a:prstGeom>
          <a:noFill/>
        </p:spPr>
        <p:txBody>
          <a:bodyPr wrap="square">
            <a:spAutoFit/>
          </a:bodyPr>
          <a:lstStyle/>
          <a:p>
            <a:pPr algn="l">
              <a:defRPr sz="1800" b="1">
                <a:solidFill>
                  <a:srgbClr val="2C3E6B"/>
                </a:solidFill>
                <a:latin typeface="Calibri"/>
              </a:defRPr>
            </a:pPr>
            <a:r>
              <a:t>Solusi: Agent-Based Modeling</a:t>
            </a:r>
          </a:p>
        </p:txBody>
      </p:sp>
      <p:sp>
        <p:nvSpPr>
          <p:cNvPr id="8" name="TextBox 7"/>
          <p:cNvSpPr txBox="1"/>
          <p:nvPr/>
        </p:nvSpPr>
        <p:spPr>
          <a:xfrm>
            <a:off x="621792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ABM memungkinkan simulasi bottom-up dari perilaku individu</a:t>
            </a:r>
          </a:p>
          <a:p>
            <a:pPr>
              <a:spcAft>
                <a:spcPts val="600"/>
              </a:spcAft>
              <a:defRPr sz="1500">
                <a:solidFill>
                  <a:srgbClr val="2C3E50"/>
                </a:solidFill>
                <a:latin typeface="Calibri"/>
              </a:defRPr>
            </a:pPr>
            <a:r>
              <a:t>Setiap server direpresentasikan sebagai agen otonom</a:t>
            </a:r>
          </a:p>
          <a:p>
            <a:pPr>
              <a:spcAft>
                <a:spcPts val="600"/>
              </a:spcAft>
              <a:defRPr sz="1500">
                <a:solidFill>
                  <a:srgbClr val="2C3E50"/>
                </a:solidFill>
                <a:latin typeface="Calibri"/>
              </a:defRPr>
            </a:pPr>
            <a:r>
              <a:t>Intervensi dapat diuji dalam lingkungan terkontrol</a:t>
            </a:r>
          </a:p>
          <a:p>
            <a:pPr>
              <a:spcAft>
                <a:spcPts val="600"/>
              </a:spcAft>
              <a:defRPr sz="1500">
                <a:solidFill>
                  <a:srgbClr val="2C3E50"/>
                </a:solidFill>
                <a:latin typeface="Calibri"/>
              </a:defRPr>
            </a:pPr>
            <a:r>
              <a:t>Monte Carlo runs memberikan robust statistics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Tujuan Penelitian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5303520" cy="365760"/>
          </a:xfrm>
          <a:prstGeom prst="rect">
            <a:avLst/>
          </a:prstGeom>
          <a:noFill/>
        </p:spPr>
        <p:txBody>
          <a:bodyPr wrap="square">
            <a:spAutoFit/>
          </a:bodyPr>
          <a:lstStyle/>
          <a:p>
            <a:pPr algn="l">
              <a:defRPr sz="1800" b="1">
                <a:solidFill>
                  <a:srgbClr val="2C3E6B"/>
                </a:solidFill>
                <a:latin typeface="Calibri"/>
              </a:defRPr>
            </a:pPr>
            <a:r>
              <a:t>Tujuan Utama</a:t>
            </a:r>
          </a:p>
        </p:txBody>
      </p:sp>
      <p:sp>
        <p:nvSpPr>
          <p:cNvPr id="6" name="TextBox 5"/>
          <p:cNvSpPr txBox="1"/>
          <p:nvPr/>
        </p:nvSpPr>
        <p:spPr>
          <a:xfrm>
            <a:off x="54864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Membangun model ABM untuk propagasi ancaman siber</a:t>
            </a:r>
          </a:p>
          <a:p>
            <a:pPr>
              <a:spcAft>
                <a:spcPts val="600"/>
              </a:spcAft>
              <a:defRPr sz="1500">
                <a:solidFill>
                  <a:srgbClr val="2C3E50"/>
                </a:solidFill>
                <a:latin typeface="Calibri"/>
              </a:defRPr>
            </a:pPr>
            <a:r>
              <a:t>Mengukur efektivitas patch management secara kuantitatif</a:t>
            </a:r>
          </a:p>
          <a:p>
            <a:pPr>
              <a:spcAft>
                <a:spcPts val="600"/>
              </a:spcAft>
              <a:defRPr sz="1500">
                <a:solidFill>
                  <a:srgbClr val="2C3E50"/>
                </a:solidFill>
                <a:latin typeface="Calibri"/>
              </a:defRPr>
            </a:pPr>
            <a:r>
              <a:t>Mengukur efektivitas user training secara kuantitatif</a:t>
            </a:r>
          </a:p>
          <a:p>
            <a:pPr>
              <a:spcAft>
                <a:spcPts val="600"/>
              </a:spcAft>
              <a:defRPr sz="1500">
                <a:solidFill>
                  <a:srgbClr val="2C3E50"/>
                </a:solidFill>
                <a:latin typeface="Calibri"/>
              </a:defRPr>
            </a:pPr>
            <a:r>
              <a:t>Membandingkan efektivitas kombinasi kedua intervensi</a:t>
            </a:r>
          </a:p>
        </p:txBody>
      </p:sp>
      <p:sp>
        <p:nvSpPr>
          <p:cNvPr id="7" name="TextBox 6"/>
          <p:cNvSpPr txBox="1"/>
          <p:nvPr/>
        </p:nvSpPr>
        <p:spPr>
          <a:xfrm>
            <a:off x="6217920" y="1188720"/>
            <a:ext cx="5303520" cy="365760"/>
          </a:xfrm>
          <a:prstGeom prst="rect">
            <a:avLst/>
          </a:prstGeom>
          <a:noFill/>
        </p:spPr>
        <p:txBody>
          <a:bodyPr wrap="square">
            <a:spAutoFit/>
          </a:bodyPr>
          <a:lstStyle/>
          <a:p>
            <a:pPr algn="l">
              <a:defRPr sz="1800" b="1">
                <a:solidFill>
                  <a:srgbClr val="2C3E6B"/>
                </a:solidFill>
                <a:latin typeface="Calibri"/>
              </a:defRPr>
            </a:pPr>
            <a:r>
              <a:t>Output</a:t>
            </a:r>
          </a:p>
        </p:txBody>
      </p:sp>
      <p:sp>
        <p:nvSpPr>
          <p:cNvPr id="8" name="TextBox 7"/>
          <p:cNvSpPr txBox="1"/>
          <p:nvPr/>
        </p:nvSpPr>
        <p:spPr>
          <a:xfrm>
            <a:off x="621792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Model simulasi yang reproducible (Mesa framework)</a:t>
            </a:r>
          </a:p>
          <a:p>
            <a:pPr>
              <a:spcAft>
                <a:spcPts val="600"/>
              </a:spcAft>
              <a:defRPr sz="1500">
                <a:solidFill>
                  <a:srgbClr val="2C3E50"/>
                </a:solidFill>
                <a:latin typeface="Calibri"/>
              </a:defRPr>
            </a:pPr>
            <a:r>
              <a:t>4 skenario dengan 30 Monte Carlo runs masing-masing</a:t>
            </a:r>
          </a:p>
          <a:p>
            <a:pPr>
              <a:spcAft>
                <a:spcPts val="600"/>
              </a:spcAft>
              <a:defRPr sz="1500">
                <a:solidFill>
                  <a:srgbClr val="2C3E50"/>
                </a:solidFill>
                <a:latin typeface="Calibri"/>
              </a:defRPr>
            </a:pPr>
            <a:r>
              <a:t>5 visualisasi publikasi (time-series, boxplot, heatmap, dll)</a:t>
            </a:r>
          </a:p>
          <a:p>
            <a:pPr>
              <a:spcAft>
                <a:spcPts val="600"/>
              </a:spcAft>
              <a:defRPr sz="1500">
                <a:solidFill>
                  <a:srgbClr val="2C3E50"/>
                </a:solidFill>
                <a:latin typeface="Calibri"/>
              </a:defRPr>
            </a:pPr>
            <a:r>
              <a:t>Dashboard interaktif untuk eksplorasi parameter</a:t>
            </a:r>
          </a:p>
          <a:p>
            <a:pPr>
              <a:spcAft>
                <a:spcPts val="600"/>
              </a:spcAft>
              <a:defRPr sz="1500">
                <a:solidFill>
                  <a:srgbClr val="2C3E50"/>
                </a:solidFill>
                <a:latin typeface="Calibri"/>
              </a:defRPr>
            </a:pPr>
            <a:r>
              <a:t>Paper jurnal siap submit (format JJCIT)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Pembuatan Dataset Dummy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Proses Pembuatan Data</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10515600" cy="2743200"/>
          </a:xfrm>
          <a:prstGeom prst="rect">
            <a:avLst/>
          </a:prstGeom>
          <a:noFill/>
        </p:spPr>
        <p:txBody>
          <a:bodyPr wrap="square">
            <a:spAutoFit/>
          </a:bodyPr>
          <a:lstStyle/>
          <a:p>
            <a:pPr>
              <a:spcAft>
                <a:spcPts val="600"/>
              </a:spcAft>
              <a:defRPr sz="1500">
                <a:solidFill>
                  <a:srgbClr val="2C3E50"/>
                </a:solidFill>
                <a:latin typeface="Calibri"/>
              </a:defRPr>
            </a:pPr>
            <a:r>
              <a:t>Dataset dihasilkan dari simulasi ABM, bukan data lapangan (dummy)</a:t>
            </a:r>
          </a:p>
          <a:p>
            <a:pPr>
              <a:spcAft>
                <a:spcPts val="600"/>
              </a:spcAft>
              <a:defRPr sz="1500">
                <a:solidFill>
                  <a:srgbClr val="2C3E50"/>
                </a:solidFill>
                <a:latin typeface="Calibri"/>
              </a:defRPr>
            </a:pPr>
            <a:r>
              <a:t>Setiap skenario dijalankan 30 kali (Monte Carlo) dengan random seed berbeda</a:t>
            </a:r>
          </a:p>
          <a:p>
            <a:pPr>
              <a:spcAft>
                <a:spcPts val="600"/>
              </a:spcAft>
              <a:defRPr sz="1500">
                <a:solidFill>
                  <a:srgbClr val="2C3E50"/>
                </a:solidFill>
                <a:latin typeface="Calibri"/>
              </a:defRPr>
            </a:pPr>
            <a:r>
              <a:t>Setiap run: 200 langkah waktu (time steps)</a:t>
            </a:r>
          </a:p>
          <a:p>
            <a:pPr>
              <a:spcAft>
                <a:spcPts val="600"/>
              </a:spcAft>
              <a:defRPr sz="1500">
                <a:solidFill>
                  <a:srgbClr val="2C3E50"/>
                </a:solidFill>
                <a:latin typeface="Calibri"/>
              </a:defRPr>
            </a:pPr>
            <a:r>
              <a:t>Data dikumpulkan per step: jumlah node tiap state, vulnerability rata-rata</a:t>
            </a:r>
          </a:p>
          <a:p>
            <a:pPr>
              <a:spcAft>
                <a:spcPts val="600"/>
              </a:spcAft>
              <a:defRPr sz="1500">
                <a:solidFill>
                  <a:srgbClr val="2C3E50"/>
                </a:solidFill>
                <a:latin typeface="Calibri"/>
              </a:defRPr>
            </a:pPr>
            <a:r>
              <a:t>Total: 4 skenario x 30 runs x 200 steps = 24,000 baris data</a:t>
            </a:r>
          </a:p>
        </p:txBody>
      </p:sp>
      <p:sp>
        <p:nvSpPr>
          <p:cNvPr id="6" name="Rectangle 5"/>
          <p:cNvSpPr/>
          <p:nvPr/>
        </p:nvSpPr>
        <p:spPr>
          <a:xfrm>
            <a:off x="548640" y="3931920"/>
            <a:ext cx="10972800" cy="22860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114800"/>
            <a:ext cx="10424160" cy="1920240"/>
          </a:xfrm>
          <a:prstGeom prst="rect">
            <a:avLst/>
          </a:prstGeom>
          <a:noFill/>
        </p:spPr>
        <p:txBody>
          <a:bodyPr wrap="square">
            <a:spAutoFit/>
          </a:bodyPr>
          <a:lstStyle/>
          <a:p>
            <a:pPr>
              <a:spcAft>
                <a:spcPts val="200"/>
              </a:spcAft>
              <a:defRPr sz="1100">
                <a:solidFill>
                  <a:srgbClr val="98C379"/>
                </a:solidFill>
                <a:latin typeface="Consolas"/>
              </a:defRPr>
            </a:pPr>
            <a:r>
              <a:t># Struktur data yang dihasilkan (data_raw_simulasi.csv):</a:t>
            </a:r>
          </a:p>
          <a:p>
            <a:pPr>
              <a:spcAft>
                <a:spcPts val="200"/>
              </a:spcAft>
              <a:defRPr sz="1100">
                <a:solidFill>
                  <a:srgbClr val="98C379"/>
                </a:solidFill>
                <a:latin typeface="Consolas"/>
              </a:defRPr>
            </a:pPr>
            <a:r>
              <a:t>skenario       | run_id | langkah | n_susceptible | n_infected | ...</a:t>
            </a:r>
          </a:p>
          <a:p>
            <a:pPr>
              <a:spcAft>
                <a:spcPts val="200"/>
              </a:spcAft>
              <a:defRPr sz="1100">
                <a:solidFill>
                  <a:srgbClr val="98C379"/>
                </a:solidFill>
                <a:latin typeface="Consolas"/>
              </a:defRPr>
            </a:pPr>
            <a:r>
              <a:t>Baseline       | 1      | 1       | 45            | 5          | ...</a:t>
            </a:r>
          </a:p>
          <a:p>
            <a:pPr>
              <a:spcAft>
                <a:spcPts val="200"/>
              </a:spcAft>
              <a:defRPr sz="1100">
                <a:solidFill>
                  <a:srgbClr val="98C379"/>
                </a:solidFill>
                <a:latin typeface="Consolas"/>
              </a:defRPr>
            </a:pPr>
            <a:r>
              <a:t>Baseline       | 1      | 2       | 44            | 6          | ...</a:t>
            </a:r>
          </a:p>
          <a:p>
            <a:pPr>
              <a:spcAft>
                <a:spcPts val="200"/>
              </a:spcAft>
              <a:defRPr sz="1100">
                <a:solidFill>
                  <a:srgbClr val="98C379"/>
                </a:solidFill>
                <a:latin typeface="Consolas"/>
              </a:defRPr>
            </a:pPr>
            <a:r>
              <a:t>Patch Only     | 1      | 1       | 46            | 4          | ...</a:t>
            </a:r>
          </a:p>
          <a:p>
            <a:pPr>
              <a:spcAft>
                <a:spcPts val="200"/>
              </a:spcAft>
              <a:defRPr sz="1100">
                <a:solidFill>
                  <a:srgbClr val="98C379"/>
                </a:solidFill>
                <a:latin typeface="Consolas"/>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Dataset yang Dihasilkan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5303520" cy="365760"/>
          </a:xfrm>
          <a:prstGeom prst="rect">
            <a:avLst/>
          </a:prstGeom>
          <a:noFill/>
        </p:spPr>
        <p:txBody>
          <a:bodyPr wrap="square">
            <a:spAutoFit/>
          </a:bodyPr>
          <a:lstStyle/>
          <a:p>
            <a:pPr algn="l">
              <a:defRPr sz="1800" b="1">
                <a:solidFill>
                  <a:srgbClr val="2C3E6B"/>
                </a:solidFill>
                <a:latin typeface="Calibri"/>
              </a:defRPr>
            </a:pPr>
            <a:r>
              <a:t>data/raw/</a:t>
            </a:r>
          </a:p>
        </p:txBody>
      </p:sp>
      <p:sp>
        <p:nvSpPr>
          <p:cNvPr id="6" name="TextBox 5"/>
          <p:cNvSpPr txBox="1"/>
          <p:nvPr/>
        </p:nvSpPr>
        <p:spPr>
          <a:xfrm>
            <a:off x="54864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data_raw_simulasi.csv</a:t>
            </a:r>
          </a:p>
          <a:p>
            <a:pPr>
              <a:spcAft>
                <a:spcPts val="600"/>
              </a:spcAft>
              <a:defRPr sz="1500">
                <a:solidFill>
                  <a:srgbClr val="2C3E50"/>
                </a:solidFill>
                <a:latin typeface="Calibri"/>
              </a:defRPr>
            </a:pPr>
            <a:r>
              <a:t>  24,000 baris, 9 kolom</a:t>
            </a:r>
          </a:p>
          <a:p>
            <a:pPr>
              <a:spcAft>
                <a:spcPts val="600"/>
              </a:spcAft>
              <a:defRPr sz="1500">
                <a:solidFill>
                  <a:srgbClr val="2C3E50"/>
                </a:solidFill>
                <a:latin typeface="Calibri"/>
              </a:defRPr>
            </a:pPr>
            <a:r>
              <a:t>  Data mentah setiap step</a:t>
            </a:r>
          </a:p>
          <a:p>
            <a:pPr>
              <a:spcAft>
                <a:spcPts val="600"/>
              </a:spcAft>
              <a:defRPr sz="1500">
                <a:solidFill>
                  <a:srgbClr val="2C3E50"/>
                </a:solidFill>
                <a:latin typeface="Calibri"/>
              </a:defRPr>
            </a:pPr>
          </a:p>
          <a:p>
            <a:pPr>
              <a:spcAft>
                <a:spcPts val="600"/>
              </a:spcAft>
              <a:defRPr sz="1500">
                <a:solidFill>
                  <a:srgbClr val="2C3E50"/>
                </a:solidFill>
                <a:latin typeface="Calibri"/>
              </a:defRPr>
            </a:pPr>
            <a:r>
              <a:t>data_ringkasan_skenario.csv</a:t>
            </a:r>
          </a:p>
          <a:p>
            <a:pPr>
              <a:spcAft>
                <a:spcPts val="600"/>
              </a:spcAft>
              <a:defRPr sz="1500">
                <a:solidFill>
                  <a:srgbClr val="2C3E50"/>
                </a:solidFill>
                <a:latin typeface="Calibri"/>
              </a:defRPr>
            </a:pPr>
            <a:r>
              <a:t>  120 baris (4 skenario x 30 runs)</a:t>
            </a:r>
          </a:p>
          <a:p>
            <a:pPr>
              <a:spcAft>
                <a:spcPts val="600"/>
              </a:spcAft>
              <a:defRPr sz="1500">
                <a:solidFill>
                  <a:srgbClr val="2C3E50"/>
                </a:solidFill>
                <a:latin typeface="Calibri"/>
              </a:defRPr>
            </a:pPr>
            <a:r>
              <a:t>  Ringkasan per run (peak, reduction %)</a:t>
            </a:r>
          </a:p>
        </p:txBody>
      </p:sp>
      <p:sp>
        <p:nvSpPr>
          <p:cNvPr id="7" name="TextBox 6"/>
          <p:cNvSpPr txBox="1"/>
          <p:nvPr/>
        </p:nvSpPr>
        <p:spPr>
          <a:xfrm>
            <a:off x="6217920" y="1188720"/>
            <a:ext cx="5303520" cy="365760"/>
          </a:xfrm>
          <a:prstGeom prst="rect">
            <a:avLst/>
          </a:prstGeom>
          <a:noFill/>
        </p:spPr>
        <p:txBody>
          <a:bodyPr wrap="square">
            <a:spAutoFit/>
          </a:bodyPr>
          <a:lstStyle/>
          <a:p>
            <a:pPr algn="l">
              <a:defRPr sz="1800" b="1">
                <a:solidFill>
                  <a:srgbClr val="2C3E6B"/>
                </a:solidFill>
                <a:latin typeface="Calibri"/>
              </a:defRPr>
            </a:pPr>
            <a:r>
              <a:t>data/processed/</a:t>
            </a:r>
          </a:p>
        </p:txBody>
      </p:sp>
      <p:sp>
        <p:nvSpPr>
          <p:cNvPr id="8" name="TextBox 7"/>
          <p:cNvSpPr txBox="1"/>
          <p:nvPr/>
        </p:nvSpPr>
        <p:spPr>
          <a:xfrm>
            <a:off x="621792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data_analisis_statistik.csv</a:t>
            </a:r>
          </a:p>
          <a:p>
            <a:pPr>
              <a:spcAft>
                <a:spcPts val="600"/>
              </a:spcAft>
              <a:defRPr sz="1500">
                <a:solidFill>
                  <a:srgbClr val="2C3E50"/>
                </a:solidFill>
                <a:latin typeface="Calibri"/>
              </a:defRPr>
            </a:pPr>
            <a:r>
              <a:t>  Hasil uji Mann-Whitney U</a:t>
            </a:r>
          </a:p>
          <a:p>
            <a:pPr>
              <a:spcAft>
                <a:spcPts val="600"/>
              </a:spcAft>
              <a:defRPr sz="1500">
                <a:solidFill>
                  <a:srgbClr val="2C3E50"/>
                </a:solidFill>
                <a:latin typeface="Calibri"/>
              </a:defRPr>
            </a:pPr>
            <a:r>
              <a:t>  Cohen d effect size</a:t>
            </a:r>
          </a:p>
          <a:p>
            <a:pPr>
              <a:spcAft>
                <a:spcPts val="600"/>
              </a:spcAft>
              <a:defRPr sz="1500">
                <a:solidFill>
                  <a:srgbClr val="2C3E50"/>
                </a:solidFill>
                <a:latin typeface="Calibri"/>
              </a:defRPr>
            </a:pPr>
            <a:r>
              <a:t>  p-value per perbandingan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Model Agent-Based Simulation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State Machine Agen (ServerNode)</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0972800" cy="457200"/>
          </a:xfrm>
          <a:prstGeom prst="rect">
            <a:avLst/>
          </a:prstGeom>
          <a:noFill/>
        </p:spPr>
        <p:txBody>
          <a:bodyPr wrap="square">
            <a:spAutoFit/>
          </a:bodyPr>
          <a:lstStyle/>
          <a:p>
            <a:pPr algn="l">
              <a:defRPr sz="1600" b="0">
                <a:solidFill>
                  <a:srgbClr val="2C3E50"/>
                </a:solidFill>
                <a:latin typeface="Calibri"/>
              </a:defRPr>
            </a:pPr>
            <a:r>
              <a:t>Setiap node server memiliki 4 state:</a:t>
            </a:r>
          </a:p>
        </p:txBody>
      </p:sp>
      <p:sp>
        <p:nvSpPr>
          <p:cNvPr id="6" name="Rectangle 5"/>
          <p:cNvSpPr/>
          <p:nvPr/>
        </p:nvSpPr>
        <p:spPr>
          <a:xfrm>
            <a:off x="731520" y="1828800"/>
            <a:ext cx="365760" cy="36576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1783080"/>
            <a:ext cx="3657600" cy="457200"/>
          </a:xfrm>
          <a:prstGeom prst="rect">
            <a:avLst/>
          </a:prstGeom>
          <a:noFill/>
        </p:spPr>
        <p:txBody>
          <a:bodyPr wrap="square">
            <a:spAutoFit/>
          </a:bodyPr>
          <a:lstStyle/>
          <a:p>
            <a:pPr algn="l">
              <a:defRPr sz="1600" b="1">
                <a:solidFill>
                  <a:srgbClr val="2C3E50"/>
                </a:solidFill>
                <a:latin typeface="Calibri"/>
              </a:defRPr>
            </a:pPr>
            <a:r>
              <a:t>Susceptible (S)</a:t>
            </a:r>
          </a:p>
        </p:txBody>
      </p:sp>
      <p:sp>
        <p:nvSpPr>
          <p:cNvPr id="8" name="TextBox 7"/>
          <p:cNvSpPr txBox="1"/>
          <p:nvPr/>
        </p:nvSpPr>
        <p:spPr>
          <a:xfrm>
            <a:off x="5029200" y="1783080"/>
            <a:ext cx="6400800" cy="457200"/>
          </a:xfrm>
          <a:prstGeom prst="rect">
            <a:avLst/>
          </a:prstGeom>
          <a:noFill/>
        </p:spPr>
        <p:txBody>
          <a:bodyPr wrap="square">
            <a:spAutoFit/>
          </a:bodyPr>
          <a:lstStyle/>
          <a:p>
            <a:pPr algn="l">
              <a:defRPr sz="1400" b="0">
                <a:solidFill>
                  <a:srgbClr val="7F8C8D"/>
                </a:solidFill>
                <a:latin typeface="Calibri"/>
              </a:defRPr>
            </a:pPr>
            <a:r>
              <a:t>Node rentan, dapat terinfeksi</a:t>
            </a:r>
          </a:p>
        </p:txBody>
      </p:sp>
      <p:sp>
        <p:nvSpPr>
          <p:cNvPr id="9" name="Rectangle 8"/>
          <p:cNvSpPr/>
          <p:nvPr/>
        </p:nvSpPr>
        <p:spPr>
          <a:xfrm>
            <a:off x="731520" y="2834640"/>
            <a:ext cx="36576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788920"/>
            <a:ext cx="3657600" cy="457200"/>
          </a:xfrm>
          <a:prstGeom prst="rect">
            <a:avLst/>
          </a:prstGeom>
          <a:noFill/>
        </p:spPr>
        <p:txBody>
          <a:bodyPr wrap="square">
            <a:spAutoFit/>
          </a:bodyPr>
          <a:lstStyle/>
          <a:p>
            <a:pPr algn="l">
              <a:defRPr sz="1600" b="1">
                <a:solidFill>
                  <a:srgbClr val="2C3E50"/>
                </a:solidFill>
                <a:latin typeface="Calibri"/>
              </a:defRPr>
            </a:pPr>
            <a:r>
              <a:t>Infected (I)</a:t>
            </a:r>
          </a:p>
        </p:txBody>
      </p:sp>
      <p:sp>
        <p:nvSpPr>
          <p:cNvPr id="11" name="TextBox 10"/>
          <p:cNvSpPr txBox="1"/>
          <p:nvPr/>
        </p:nvSpPr>
        <p:spPr>
          <a:xfrm>
            <a:off x="5029200" y="2788920"/>
            <a:ext cx="6400800" cy="457200"/>
          </a:xfrm>
          <a:prstGeom prst="rect">
            <a:avLst/>
          </a:prstGeom>
          <a:noFill/>
        </p:spPr>
        <p:txBody>
          <a:bodyPr wrap="square">
            <a:spAutoFit/>
          </a:bodyPr>
          <a:lstStyle/>
          <a:p>
            <a:pPr algn="l">
              <a:defRPr sz="1400" b="0">
                <a:solidFill>
                  <a:srgbClr val="7F8C8D"/>
                </a:solidFill>
                <a:latin typeface="Calibri"/>
              </a:defRPr>
            </a:pPr>
            <a:r>
              <a:t>Node terkompromi, menyebarkan threat</a:t>
            </a:r>
          </a:p>
        </p:txBody>
      </p:sp>
      <p:sp>
        <p:nvSpPr>
          <p:cNvPr id="12" name="Rectangle 11"/>
          <p:cNvSpPr/>
          <p:nvPr/>
        </p:nvSpPr>
        <p:spPr>
          <a:xfrm>
            <a:off x="731520" y="3840480"/>
            <a:ext cx="365760" cy="36576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3794760"/>
            <a:ext cx="3657600" cy="457200"/>
          </a:xfrm>
          <a:prstGeom prst="rect">
            <a:avLst/>
          </a:prstGeom>
          <a:noFill/>
        </p:spPr>
        <p:txBody>
          <a:bodyPr wrap="square">
            <a:spAutoFit/>
          </a:bodyPr>
          <a:lstStyle/>
          <a:p>
            <a:pPr algn="l">
              <a:defRPr sz="1600" b="1">
                <a:solidFill>
                  <a:srgbClr val="2C3E50"/>
                </a:solidFill>
                <a:latin typeface="Calibri"/>
              </a:defRPr>
            </a:pPr>
            <a:r>
              <a:t>Patched (P)</a:t>
            </a:r>
          </a:p>
        </p:txBody>
      </p:sp>
      <p:sp>
        <p:nvSpPr>
          <p:cNvPr id="14" name="TextBox 13"/>
          <p:cNvSpPr txBox="1"/>
          <p:nvPr/>
        </p:nvSpPr>
        <p:spPr>
          <a:xfrm>
            <a:off x="5029200" y="3794760"/>
            <a:ext cx="6400800" cy="457200"/>
          </a:xfrm>
          <a:prstGeom prst="rect">
            <a:avLst/>
          </a:prstGeom>
          <a:noFill/>
        </p:spPr>
        <p:txBody>
          <a:bodyPr wrap="square">
            <a:spAutoFit/>
          </a:bodyPr>
          <a:lstStyle/>
          <a:p>
            <a:pPr algn="l">
              <a:defRPr sz="1400" b="0">
                <a:solidFill>
                  <a:srgbClr val="7F8C8D"/>
                </a:solidFill>
                <a:latin typeface="Calibri"/>
              </a:defRPr>
            </a:pPr>
            <a:r>
              <a:t>Node diamankan dengan patch, imun sementara</a:t>
            </a:r>
          </a:p>
        </p:txBody>
      </p:sp>
      <p:sp>
        <p:nvSpPr>
          <p:cNvPr id="15" name="Rectangle 14"/>
          <p:cNvSpPr/>
          <p:nvPr/>
        </p:nvSpPr>
        <p:spPr>
          <a:xfrm>
            <a:off x="731520" y="4846320"/>
            <a:ext cx="365760" cy="365760"/>
          </a:xfrm>
          <a:prstGeom prst="rect">
            <a:avLst/>
          </a:prstGeom>
          <a:solidFill>
            <a:srgbClr val="2CA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4800600"/>
            <a:ext cx="3657600" cy="457200"/>
          </a:xfrm>
          <a:prstGeom prst="rect">
            <a:avLst/>
          </a:prstGeom>
          <a:noFill/>
        </p:spPr>
        <p:txBody>
          <a:bodyPr wrap="square">
            <a:spAutoFit/>
          </a:bodyPr>
          <a:lstStyle/>
          <a:p>
            <a:pPr algn="l">
              <a:defRPr sz="1600" b="1">
                <a:solidFill>
                  <a:srgbClr val="2C3E50"/>
                </a:solidFill>
                <a:latin typeface="Calibri"/>
              </a:defRPr>
            </a:pPr>
            <a:r>
              <a:t>Recovered (R)</a:t>
            </a:r>
          </a:p>
        </p:txBody>
      </p:sp>
      <p:sp>
        <p:nvSpPr>
          <p:cNvPr id="17" name="TextBox 16"/>
          <p:cNvSpPr txBox="1"/>
          <p:nvPr/>
        </p:nvSpPr>
        <p:spPr>
          <a:xfrm>
            <a:off x="5029200" y="4800600"/>
            <a:ext cx="6400800" cy="457200"/>
          </a:xfrm>
          <a:prstGeom prst="rect">
            <a:avLst/>
          </a:prstGeom>
          <a:noFill/>
        </p:spPr>
        <p:txBody>
          <a:bodyPr wrap="square">
            <a:spAutoFit/>
          </a:bodyPr>
          <a:lstStyle/>
          <a:p>
            <a:pPr algn="l">
              <a:defRPr sz="1400" b="0">
                <a:solidFill>
                  <a:srgbClr val="7F8C8D"/>
                </a:solidFill>
                <a:latin typeface="Calibri"/>
              </a:defRPr>
            </a:pPr>
            <a:r>
              <a:t>Node pulih, imun temporer sebelum kembali ke S</a:t>
            </a:r>
          </a:p>
        </p:txBody>
      </p:sp>
      <p:sp>
        <p:nvSpPr>
          <p:cNvPr id="18" name="TextBox 17"/>
          <p:cNvSpPr txBox="1"/>
          <p:nvPr/>
        </p:nvSpPr>
        <p:spPr>
          <a:xfrm>
            <a:off x="548640" y="5760720"/>
            <a:ext cx="10972800" cy="731520"/>
          </a:xfrm>
          <a:prstGeom prst="rect">
            <a:avLst/>
          </a:prstGeom>
          <a:noFill/>
        </p:spPr>
        <p:txBody>
          <a:bodyPr wrap="square">
            <a:spAutoFit/>
          </a:bodyPr>
          <a:lstStyle/>
          <a:p>
            <a:pPr algn="l">
              <a:defRPr sz="1400" b="1">
                <a:solidFill>
                  <a:srgbClr val="2C3E6B"/>
                </a:solidFill>
                <a:latin typeface="Calibri"/>
              </a:defRPr>
            </a:pPr>
            <a:r>
              <a:t>Transisi: S -&gt; I (terinfeksi) | I -&gt; R (recovery) | S -&gt; P (patching) | P -&gt; S (patch decay) | R -&gt; S (imunity loss)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Vulnerability Evolution Model</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0972800" cy="457200"/>
          </a:xfrm>
          <a:prstGeom prst="rect">
            <a:avLst/>
          </a:prstGeom>
          <a:noFill/>
        </p:spPr>
        <p:txBody>
          <a:bodyPr wrap="square">
            <a:spAutoFit/>
          </a:bodyPr>
          <a:lstStyle/>
          <a:p>
            <a:pPr algn="l">
              <a:defRPr sz="1600" b="0">
                <a:solidFill>
                  <a:srgbClr val="2C3E50"/>
                </a:solidFill>
                <a:latin typeface="Calibri"/>
              </a:defRPr>
            </a:pPr>
            <a:r>
              <a:t>Fungsi evolusi kerentanan (vulnerability) setiap agen:</a:t>
            </a:r>
          </a:p>
        </p:txBody>
      </p:sp>
      <p:sp>
        <p:nvSpPr>
          <p:cNvPr id="6" name="Rectangle 5"/>
          <p:cNvSpPr/>
          <p:nvPr/>
        </p:nvSpPr>
        <p:spPr>
          <a:xfrm>
            <a:off x="548640" y="1737360"/>
            <a:ext cx="10972800" cy="41148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0424160" cy="3749040"/>
          </a:xfrm>
          <a:prstGeom prst="rect">
            <a:avLst/>
          </a:prstGeom>
          <a:noFill/>
        </p:spPr>
        <p:txBody>
          <a:bodyPr wrap="square">
            <a:spAutoFit/>
          </a:bodyPr>
          <a:lstStyle/>
          <a:p>
            <a:pPr>
              <a:spcAft>
                <a:spcPts val="200"/>
              </a:spcAft>
              <a:defRPr sz="1300">
                <a:solidFill>
                  <a:srgbClr val="98C379"/>
                </a:solidFill>
                <a:latin typeface="Consolas"/>
              </a:defRPr>
            </a:pPr>
            <a:r>
              <a:t>V(t+1) = V(t) x (1 - alpha x PL) x (1 - tau x UA) + epsilon</a:t>
            </a:r>
          </a:p>
          <a:p>
            <a:pPr>
              <a:spcAft>
                <a:spcPts val="200"/>
              </a:spcAft>
              <a:defRPr sz="1300">
                <a:solidFill>
                  <a:srgbClr val="98C379"/>
                </a:solidFill>
                <a:latin typeface="Consolas"/>
              </a:defRPr>
            </a:pPr>
          </a:p>
          <a:p>
            <a:pPr>
              <a:spcAft>
                <a:spcPts val="200"/>
              </a:spcAft>
              <a:defRPr sz="1300">
                <a:solidFill>
                  <a:srgbClr val="98C379"/>
                </a:solidFill>
                <a:latin typeface="Consolas"/>
              </a:defRPr>
            </a:pPr>
            <a:r>
              <a:t>Parameter:</a:t>
            </a:r>
          </a:p>
          <a:p>
            <a:pPr>
              <a:spcAft>
                <a:spcPts val="200"/>
              </a:spcAft>
              <a:defRPr sz="1300">
                <a:solidFill>
                  <a:srgbClr val="98C379"/>
                </a:solidFill>
                <a:latin typeface="Consolas"/>
              </a:defRPr>
            </a:pPr>
            <a:r>
              <a:t>  alpha  = Patch effectiveness (0.60)</a:t>
            </a:r>
          </a:p>
          <a:p>
            <a:pPr>
              <a:spcAft>
                <a:spcPts val="200"/>
              </a:spcAft>
              <a:defRPr sz="1300">
                <a:solidFill>
                  <a:srgbClr val="98C379"/>
                </a:solidFill>
                <a:latin typeface="Consolas"/>
              </a:defRPr>
            </a:pPr>
            <a:r>
              <a:t>  PL     = Patch level (0 atau 1)</a:t>
            </a:r>
          </a:p>
          <a:p>
            <a:pPr>
              <a:spcAft>
                <a:spcPts val="200"/>
              </a:spcAft>
              <a:defRPr sz="1300">
                <a:solidFill>
                  <a:srgbClr val="98C379"/>
                </a:solidFill>
                <a:latin typeface="Consolas"/>
              </a:defRPr>
            </a:pPr>
            <a:r>
              <a:t>  tau    = Training effectiveness (0.50)</a:t>
            </a:r>
          </a:p>
          <a:p>
            <a:pPr>
              <a:spcAft>
                <a:spcPts val="200"/>
              </a:spcAft>
              <a:defRPr sz="1300">
                <a:solidFill>
                  <a:srgbClr val="98C379"/>
                </a:solidFill>
                <a:latin typeface="Consolas"/>
              </a:defRPr>
            </a:pPr>
            <a:r>
              <a:t>  UA     = User awareness (0 atau 1)</a:t>
            </a:r>
          </a:p>
          <a:p>
            <a:pPr>
              <a:spcAft>
                <a:spcPts val="200"/>
              </a:spcAft>
              <a:defRPr sz="1300">
                <a:solidFill>
                  <a:srgbClr val="98C379"/>
                </a:solidFill>
                <a:latin typeface="Consolas"/>
              </a:defRPr>
            </a:pPr>
            <a:r>
              <a:t>  epsilon = External threat factor (0.01)</a:t>
            </a:r>
          </a:p>
          <a:p>
            <a:pPr>
              <a:spcAft>
                <a:spcPts val="200"/>
              </a:spcAft>
              <a:defRPr sz="1300">
                <a:solidFill>
                  <a:srgbClr val="98C379"/>
                </a:solidFill>
                <a:latin typeface="Consolas"/>
              </a:defRPr>
            </a:pPr>
          </a:p>
          <a:p>
            <a:pPr>
              <a:spcAft>
                <a:spcPts val="200"/>
              </a:spcAft>
              <a:defRPr sz="1300">
                <a:solidFill>
                  <a:srgbClr val="98C379"/>
                </a:solidFill>
                <a:latin typeface="Consolas"/>
              </a:defRPr>
            </a:pPr>
            <a:r>
              <a:t>Infection Probability:</a:t>
            </a:r>
          </a:p>
          <a:p>
            <a:pPr>
              <a:spcAft>
                <a:spcPts val="200"/>
              </a:spcAft>
              <a:defRPr sz="1300">
                <a:solidFill>
                  <a:srgbClr val="98C379"/>
                </a:solidFill>
                <a:latin typeface="Consolas"/>
              </a:defRPr>
            </a:pPr>
            <a:r>
              <a:t>  P(infeksi) = beta x V x (1 - UA) x (N_infected_neighbors / N_neighbors)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Skenario Simulasi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Empat Skenario Percobaan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0972800" cy="100584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73152" cy="100584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40"/>
            <a:ext cx="4572000" cy="365760"/>
          </a:xfrm>
          <a:prstGeom prst="rect">
            <a:avLst/>
          </a:prstGeom>
          <a:noFill/>
        </p:spPr>
        <p:txBody>
          <a:bodyPr wrap="square">
            <a:spAutoFit/>
          </a:bodyPr>
          <a:lstStyle/>
          <a:p>
            <a:pPr algn="l">
              <a:defRPr sz="1800" b="1">
                <a:solidFill>
                  <a:srgbClr val="2C3E50"/>
                </a:solidFill>
                <a:latin typeface="Calibri"/>
              </a:defRPr>
            </a:pPr>
            <a:r>
              <a:t>Skenario 1: Baseline</a:t>
            </a:r>
          </a:p>
        </p:txBody>
      </p:sp>
      <p:sp>
        <p:nvSpPr>
          <p:cNvPr id="8" name="TextBox 7"/>
          <p:cNvSpPr txBox="1"/>
          <p:nvPr/>
        </p:nvSpPr>
        <p:spPr>
          <a:xfrm>
            <a:off x="914400" y="1828800"/>
            <a:ext cx="4572000" cy="365760"/>
          </a:xfrm>
          <a:prstGeom prst="rect">
            <a:avLst/>
          </a:prstGeom>
          <a:noFill/>
        </p:spPr>
        <p:txBody>
          <a:bodyPr wrap="square">
            <a:spAutoFit/>
          </a:bodyPr>
          <a:lstStyle/>
          <a:p>
            <a:pPr algn="l">
              <a:defRPr sz="1400" b="0">
                <a:solidFill>
                  <a:srgbClr val="7F8C8D"/>
                </a:solidFill>
                <a:latin typeface="Calibri"/>
              </a:defRPr>
            </a:pPr>
            <a:r>
              <a:t>Tanpa intervensi | Kontrol. alpha=0, tau=0</a:t>
            </a:r>
          </a:p>
        </p:txBody>
      </p:sp>
      <p:sp>
        <p:nvSpPr>
          <p:cNvPr id="9" name="TextBox 8"/>
          <p:cNvSpPr txBox="1"/>
          <p:nvPr/>
        </p:nvSpPr>
        <p:spPr>
          <a:xfrm>
            <a:off x="6400800" y="1554480"/>
            <a:ext cx="5029200" cy="640080"/>
          </a:xfrm>
          <a:prstGeom prst="rect">
            <a:avLst/>
          </a:prstGeom>
          <a:noFill/>
        </p:spPr>
        <p:txBody>
          <a:bodyPr wrap="square">
            <a:spAutoFit/>
          </a:bodyPr>
          <a:lstStyle/>
          <a:p>
            <a:pPr algn="l">
              <a:defRPr sz="1300" b="0">
                <a:solidFill>
                  <a:srgbClr val="2C3E6B"/>
                </a:solidFill>
                <a:latin typeface="Calibri"/>
              </a:defRPr>
            </a:pPr>
            <a:r>
              <a:t>30 Monte Carlo runs x 200 steps</a:t>
            </a:r>
          </a:p>
        </p:txBody>
      </p:sp>
      <p:sp>
        <p:nvSpPr>
          <p:cNvPr id="10" name="Rectangle 9"/>
          <p:cNvSpPr/>
          <p:nvPr/>
        </p:nvSpPr>
        <p:spPr>
          <a:xfrm>
            <a:off x="548640" y="2560320"/>
            <a:ext cx="10972800" cy="100584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560320"/>
            <a:ext cx="73152" cy="1005840"/>
          </a:xfrm>
          <a:prstGeom prst="rect">
            <a:avLst/>
          </a:prstGeom>
          <a:solidFill>
            <a:srgbClr val="FF7F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51760"/>
            <a:ext cx="4572000" cy="365760"/>
          </a:xfrm>
          <a:prstGeom prst="rect">
            <a:avLst/>
          </a:prstGeom>
          <a:noFill/>
        </p:spPr>
        <p:txBody>
          <a:bodyPr wrap="square">
            <a:spAutoFit/>
          </a:bodyPr>
          <a:lstStyle/>
          <a:p>
            <a:pPr algn="l">
              <a:defRPr sz="1800" b="1">
                <a:solidFill>
                  <a:srgbClr val="2C3E50"/>
                </a:solidFill>
                <a:latin typeface="Calibri"/>
              </a:defRPr>
            </a:pPr>
            <a:r>
              <a:t>Skenario 2: Patch Only</a:t>
            </a:r>
          </a:p>
        </p:txBody>
      </p:sp>
      <p:sp>
        <p:nvSpPr>
          <p:cNvPr id="13" name="TextBox 12"/>
          <p:cNvSpPr txBox="1"/>
          <p:nvPr/>
        </p:nvSpPr>
        <p:spPr>
          <a:xfrm>
            <a:off x="914400" y="3017520"/>
            <a:ext cx="4572000" cy="365760"/>
          </a:xfrm>
          <a:prstGeom prst="rect">
            <a:avLst/>
          </a:prstGeom>
          <a:noFill/>
        </p:spPr>
        <p:txBody>
          <a:bodyPr wrap="square">
            <a:spAutoFit/>
          </a:bodyPr>
          <a:lstStyle/>
          <a:p>
            <a:pPr algn="l">
              <a:defRPr sz="1400" b="0">
                <a:solidFill>
                  <a:srgbClr val="7F8C8D"/>
                </a:solidFill>
                <a:latin typeface="Calibri"/>
              </a:defRPr>
            </a:pPr>
            <a:r>
              <a:t>Hanya patch management | alpha=0.60, tau=0</a:t>
            </a:r>
          </a:p>
        </p:txBody>
      </p:sp>
      <p:sp>
        <p:nvSpPr>
          <p:cNvPr id="14" name="TextBox 13"/>
          <p:cNvSpPr txBox="1"/>
          <p:nvPr/>
        </p:nvSpPr>
        <p:spPr>
          <a:xfrm>
            <a:off x="6400800" y="2743200"/>
            <a:ext cx="5029200" cy="640080"/>
          </a:xfrm>
          <a:prstGeom prst="rect">
            <a:avLst/>
          </a:prstGeom>
          <a:noFill/>
        </p:spPr>
        <p:txBody>
          <a:bodyPr wrap="square">
            <a:spAutoFit/>
          </a:bodyPr>
          <a:lstStyle/>
          <a:p>
            <a:pPr algn="l">
              <a:defRPr sz="1300" b="0">
                <a:solidFill>
                  <a:srgbClr val="2C3E6B"/>
                </a:solidFill>
                <a:latin typeface="Calibri"/>
              </a:defRPr>
            </a:pPr>
            <a:r>
              <a:t>30 Monte Carlo runs x 200 steps</a:t>
            </a:r>
          </a:p>
        </p:txBody>
      </p:sp>
      <p:sp>
        <p:nvSpPr>
          <p:cNvPr id="15" name="Rectangle 14"/>
          <p:cNvSpPr/>
          <p:nvPr/>
        </p:nvSpPr>
        <p:spPr>
          <a:xfrm>
            <a:off x="548640" y="3749040"/>
            <a:ext cx="10972800" cy="100584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749040"/>
            <a:ext cx="73152" cy="1005840"/>
          </a:xfrm>
          <a:prstGeom prst="rect">
            <a:avLst/>
          </a:prstGeom>
          <a:solidFill>
            <a:srgbClr val="2CA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40480"/>
            <a:ext cx="4572000" cy="365760"/>
          </a:xfrm>
          <a:prstGeom prst="rect">
            <a:avLst/>
          </a:prstGeom>
          <a:noFill/>
        </p:spPr>
        <p:txBody>
          <a:bodyPr wrap="square">
            <a:spAutoFit/>
          </a:bodyPr>
          <a:lstStyle/>
          <a:p>
            <a:pPr algn="l">
              <a:defRPr sz="1800" b="1">
                <a:solidFill>
                  <a:srgbClr val="2C3E50"/>
                </a:solidFill>
                <a:latin typeface="Calibri"/>
              </a:defRPr>
            </a:pPr>
            <a:r>
              <a:t>Skenario 3: Training Only</a:t>
            </a:r>
          </a:p>
        </p:txBody>
      </p:sp>
      <p:sp>
        <p:nvSpPr>
          <p:cNvPr id="18" name="TextBox 17"/>
          <p:cNvSpPr txBox="1"/>
          <p:nvPr/>
        </p:nvSpPr>
        <p:spPr>
          <a:xfrm>
            <a:off x="914400" y="4206240"/>
            <a:ext cx="4572000" cy="365760"/>
          </a:xfrm>
          <a:prstGeom prst="rect">
            <a:avLst/>
          </a:prstGeom>
          <a:noFill/>
        </p:spPr>
        <p:txBody>
          <a:bodyPr wrap="square">
            <a:spAutoFit/>
          </a:bodyPr>
          <a:lstStyle/>
          <a:p>
            <a:pPr algn="l">
              <a:defRPr sz="1400" b="0">
                <a:solidFill>
                  <a:srgbClr val="7F8C8D"/>
                </a:solidFill>
                <a:latin typeface="Calibri"/>
              </a:defRPr>
            </a:pPr>
            <a:r>
              <a:t>Hanya user training | alpha=0, tau=0.50</a:t>
            </a:r>
          </a:p>
        </p:txBody>
      </p:sp>
      <p:sp>
        <p:nvSpPr>
          <p:cNvPr id="19" name="TextBox 18"/>
          <p:cNvSpPr txBox="1"/>
          <p:nvPr/>
        </p:nvSpPr>
        <p:spPr>
          <a:xfrm>
            <a:off x="6400800" y="3931920"/>
            <a:ext cx="5029200" cy="640080"/>
          </a:xfrm>
          <a:prstGeom prst="rect">
            <a:avLst/>
          </a:prstGeom>
          <a:noFill/>
        </p:spPr>
        <p:txBody>
          <a:bodyPr wrap="square">
            <a:spAutoFit/>
          </a:bodyPr>
          <a:lstStyle/>
          <a:p>
            <a:pPr algn="l">
              <a:defRPr sz="1300" b="0">
                <a:solidFill>
                  <a:srgbClr val="2C3E6B"/>
                </a:solidFill>
                <a:latin typeface="Calibri"/>
              </a:defRPr>
            </a:pPr>
            <a:r>
              <a:t>30 Monte Carlo runs x 200 steps</a:t>
            </a:r>
          </a:p>
        </p:txBody>
      </p:sp>
      <p:sp>
        <p:nvSpPr>
          <p:cNvPr id="20" name="Rectangle 19"/>
          <p:cNvSpPr/>
          <p:nvPr/>
        </p:nvSpPr>
        <p:spPr>
          <a:xfrm>
            <a:off x="548640" y="4937760"/>
            <a:ext cx="10972800" cy="100584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937760"/>
            <a:ext cx="73152" cy="100584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029200"/>
            <a:ext cx="4572000" cy="365760"/>
          </a:xfrm>
          <a:prstGeom prst="rect">
            <a:avLst/>
          </a:prstGeom>
          <a:noFill/>
        </p:spPr>
        <p:txBody>
          <a:bodyPr wrap="square">
            <a:spAutoFit/>
          </a:bodyPr>
          <a:lstStyle/>
          <a:p>
            <a:pPr algn="l">
              <a:defRPr sz="1800" b="1">
                <a:solidFill>
                  <a:srgbClr val="2C3E50"/>
                </a:solidFill>
                <a:latin typeface="Calibri"/>
              </a:defRPr>
            </a:pPr>
            <a:r>
              <a:t>Skenario 4: Combined</a:t>
            </a:r>
          </a:p>
        </p:txBody>
      </p:sp>
      <p:sp>
        <p:nvSpPr>
          <p:cNvPr id="23" name="TextBox 22"/>
          <p:cNvSpPr txBox="1"/>
          <p:nvPr/>
        </p:nvSpPr>
        <p:spPr>
          <a:xfrm>
            <a:off x="914400" y="5394960"/>
            <a:ext cx="4572000" cy="365760"/>
          </a:xfrm>
          <a:prstGeom prst="rect">
            <a:avLst/>
          </a:prstGeom>
          <a:noFill/>
        </p:spPr>
        <p:txBody>
          <a:bodyPr wrap="square">
            <a:spAutoFit/>
          </a:bodyPr>
          <a:lstStyle/>
          <a:p>
            <a:pPr algn="l">
              <a:defRPr sz="1400" b="0">
                <a:solidFill>
                  <a:srgbClr val="7F8C8D"/>
                </a:solidFill>
                <a:latin typeface="Calibri"/>
              </a:defRPr>
            </a:pPr>
            <a:r>
              <a:t>Patch + Training | alpha=0.60, tau=0.50</a:t>
            </a:r>
          </a:p>
        </p:txBody>
      </p:sp>
      <p:sp>
        <p:nvSpPr>
          <p:cNvPr id="24" name="TextBox 23"/>
          <p:cNvSpPr txBox="1"/>
          <p:nvPr/>
        </p:nvSpPr>
        <p:spPr>
          <a:xfrm>
            <a:off x="6400800" y="5120640"/>
            <a:ext cx="5029200" cy="640080"/>
          </a:xfrm>
          <a:prstGeom prst="rect">
            <a:avLst/>
          </a:prstGeom>
          <a:noFill/>
        </p:spPr>
        <p:txBody>
          <a:bodyPr wrap="square">
            <a:spAutoFit/>
          </a:bodyPr>
          <a:lstStyle/>
          <a:p>
            <a:pPr algn="l">
              <a:defRPr sz="1300" b="0">
                <a:solidFill>
                  <a:srgbClr val="2C3E6B"/>
                </a:solidFill>
                <a:latin typeface="Calibri"/>
              </a:defRPr>
            </a:pPr>
            <a:r>
              <a:t>30 Monte Carlo runs x 200 steps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Penjelasan Source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Kode: Parameter Simulasi</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88720"/>
            <a:ext cx="10972800" cy="36576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71600"/>
            <a:ext cx="10424160" cy="3291840"/>
          </a:xfrm>
          <a:prstGeom prst="rect">
            <a:avLst/>
          </a:prstGeom>
          <a:noFill/>
        </p:spPr>
        <p:txBody>
          <a:bodyPr wrap="square">
            <a:spAutoFit/>
          </a:bodyPr>
          <a:lstStyle/>
          <a:p>
            <a:pPr>
              <a:spcAft>
                <a:spcPts val="200"/>
              </a:spcAft>
              <a:defRPr sz="1300">
                <a:solidFill>
                  <a:srgbClr val="98C379"/>
                </a:solidFill>
                <a:latin typeface="Consolas"/>
              </a:defRPr>
            </a:pPr>
            <a:r>
              <a:t>N_AGENTS    = 50     # Jumlah node server</a:t>
            </a:r>
          </a:p>
          <a:p>
            <a:pPr>
              <a:spcAft>
                <a:spcPts val="200"/>
              </a:spcAft>
              <a:defRPr sz="1300">
                <a:solidFill>
                  <a:srgbClr val="98C379"/>
                </a:solidFill>
                <a:latin typeface="Consolas"/>
              </a:defRPr>
            </a:pPr>
            <a:r>
              <a:t>EDGE_PROB   = 0.08   # Probabilitas koneksi (Erdos-Renyi)</a:t>
            </a:r>
          </a:p>
          <a:p>
            <a:pPr>
              <a:spcAft>
                <a:spcPts val="200"/>
              </a:spcAft>
              <a:defRPr sz="1300">
                <a:solidFill>
                  <a:srgbClr val="98C379"/>
                </a:solidFill>
                <a:latin typeface="Consolas"/>
              </a:defRPr>
            </a:pPr>
            <a:r>
              <a:t>BETA        = 0.30   # Infection rate</a:t>
            </a:r>
          </a:p>
          <a:p>
            <a:pPr>
              <a:spcAft>
                <a:spcPts val="200"/>
              </a:spcAft>
              <a:defRPr sz="1300">
                <a:solidFill>
                  <a:srgbClr val="98C379"/>
                </a:solidFill>
                <a:latin typeface="Consolas"/>
              </a:defRPr>
            </a:pPr>
            <a:r>
              <a:t>GAMMA       = 0.05   # Recovery rate</a:t>
            </a:r>
          </a:p>
          <a:p>
            <a:pPr>
              <a:spcAft>
                <a:spcPts val="200"/>
              </a:spcAft>
              <a:defRPr sz="1300">
                <a:solidFill>
                  <a:srgbClr val="98C379"/>
                </a:solidFill>
                <a:latin typeface="Consolas"/>
              </a:defRPr>
            </a:pPr>
            <a:r>
              <a:t>EPSILON     = 0.01   # External threat (vulnerability baru)</a:t>
            </a:r>
          </a:p>
          <a:p>
            <a:pPr>
              <a:spcAft>
                <a:spcPts val="200"/>
              </a:spcAft>
              <a:defRPr sz="1300">
                <a:solidFill>
                  <a:srgbClr val="98C379"/>
                </a:solidFill>
                <a:latin typeface="Consolas"/>
              </a:defRPr>
            </a:pPr>
            <a:r>
              <a:t>ALPHA       = 0.60   # Patch effectiveness</a:t>
            </a:r>
          </a:p>
          <a:p>
            <a:pPr>
              <a:spcAft>
                <a:spcPts val="200"/>
              </a:spcAft>
              <a:defRPr sz="1300">
                <a:solidFill>
                  <a:srgbClr val="98C379"/>
                </a:solidFill>
                <a:latin typeface="Consolas"/>
              </a:defRPr>
            </a:pPr>
            <a:r>
              <a:t>TAU         = 0.50   # Training effectiveness</a:t>
            </a:r>
          </a:p>
          <a:p>
            <a:pPr>
              <a:spcAft>
                <a:spcPts val="200"/>
              </a:spcAft>
              <a:defRPr sz="1300">
                <a:solidFill>
                  <a:srgbClr val="98C379"/>
                </a:solidFill>
                <a:latin typeface="Consolas"/>
              </a:defRPr>
            </a:pPr>
            <a:r>
              <a:t>N_STEPS     = 200    # Durasi simulasi</a:t>
            </a:r>
          </a:p>
          <a:p>
            <a:pPr>
              <a:spcAft>
                <a:spcPts val="200"/>
              </a:spcAft>
              <a:defRPr sz="1300">
                <a:solidFill>
                  <a:srgbClr val="98C379"/>
                </a:solidFill>
                <a:latin typeface="Consolas"/>
              </a:defRPr>
            </a:pPr>
            <a:r>
              <a:t>N_RUNS      = 30     # Monte Carlo repetitions</a:t>
            </a:r>
          </a:p>
        </p:txBody>
      </p:sp>
      <p:sp>
        <p:nvSpPr>
          <p:cNvPr id="7" name="TextBox 6"/>
          <p:cNvSpPr txBox="1"/>
          <p:nvPr/>
        </p:nvSpPr>
        <p:spPr>
          <a:xfrm>
            <a:off x="548640" y="5029200"/>
            <a:ext cx="10972800" cy="1371600"/>
          </a:xfrm>
          <a:prstGeom prst="rect">
            <a:avLst/>
          </a:prstGeom>
          <a:noFill/>
        </p:spPr>
        <p:txBody>
          <a:bodyPr wrap="square">
            <a:spAutoFit/>
          </a:bodyPr>
          <a:lstStyle/>
          <a:p>
            <a:pPr algn="l">
              <a:defRPr sz="1400" b="0">
                <a:solidFill>
                  <a:srgbClr val="7F8C8D"/>
                </a:solidFill>
                <a:latin typeface="Calibri"/>
              </a:defRPr>
            </a:pPr>
            <a:r>
              <a:t>Parameter disimpan dalam dictionary (skenario_kwargs) untuk setiap skenario.</a:t>
            </a:r>
            <a:br/>
            <a:r>
              <a:t>Nilai alpha dan tau diatur 0 atau sesuai efektivitas tergantung skenario.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Kode: Kelas ServerNode (Agent)</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11430000" cy="54864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10881360" cy="5120640"/>
          </a:xfrm>
          <a:prstGeom prst="rect">
            <a:avLst/>
          </a:prstGeom>
          <a:noFill/>
        </p:spPr>
        <p:txBody>
          <a:bodyPr wrap="square">
            <a:spAutoFit/>
          </a:bodyPr>
          <a:lstStyle/>
          <a:p>
            <a:pPr>
              <a:spcAft>
                <a:spcPts val="200"/>
              </a:spcAft>
              <a:defRPr sz="1100">
                <a:solidFill>
                  <a:srgbClr val="98C379"/>
                </a:solidFill>
                <a:latin typeface="Consolas"/>
              </a:defRPr>
            </a:pPr>
            <a:r>
              <a:t>class ServerNode(Agent):</a:t>
            </a:r>
          </a:p>
          <a:p>
            <a:pPr>
              <a:spcAft>
                <a:spcPts val="200"/>
              </a:spcAft>
              <a:defRPr sz="1100">
                <a:solidFill>
                  <a:srgbClr val="98C379"/>
                </a:solidFill>
                <a:latin typeface="Consolas"/>
              </a:defRPr>
            </a:pPr>
            <a:r>
              <a:t>    def __init__(self, model, alpha=0.0, tau=0.0):</a:t>
            </a:r>
          </a:p>
          <a:p>
            <a:pPr>
              <a:spcAft>
                <a:spcPts val="200"/>
              </a:spcAft>
              <a:defRPr sz="1100">
                <a:solidFill>
                  <a:srgbClr val="98C379"/>
                </a:solidFill>
                <a:latin typeface="Consolas"/>
              </a:defRPr>
            </a:pPr>
            <a:r>
              <a:t>        super().__init__(model)</a:t>
            </a:r>
          </a:p>
          <a:p>
            <a:pPr>
              <a:spcAft>
                <a:spcPts val="200"/>
              </a:spcAft>
              <a:defRPr sz="1100">
                <a:solidFill>
                  <a:srgbClr val="98C379"/>
                </a:solidFill>
                <a:latin typeface="Consolas"/>
              </a:defRPr>
            </a:pPr>
            <a:r>
              <a:t>        self.state = NodeState.SUSCEPTIBLE</a:t>
            </a:r>
          </a:p>
          <a:p>
            <a:pPr>
              <a:spcAft>
                <a:spcPts val="200"/>
              </a:spcAft>
              <a:defRPr sz="1100">
                <a:solidFill>
                  <a:srgbClr val="98C379"/>
                </a:solidFill>
                <a:latin typeface="Consolas"/>
              </a:defRPr>
            </a:pPr>
            <a:r>
              <a:t>        self.vulnerability = 0.5   # Nilai awal</a:t>
            </a:r>
          </a:p>
          <a:p>
            <a:pPr>
              <a:spcAft>
                <a:spcPts val="200"/>
              </a:spcAft>
              <a:defRPr sz="1100">
                <a:solidFill>
                  <a:srgbClr val="98C379"/>
                </a:solidFill>
                <a:latin typeface="Consolas"/>
              </a:defRPr>
            </a:pPr>
            <a:r>
              <a:t>        self.user_awareness = 0.0  # 0 = tidak terlatih</a:t>
            </a:r>
          </a:p>
          <a:p>
            <a:pPr>
              <a:spcAft>
                <a:spcPts val="200"/>
              </a:spcAft>
              <a:defRPr sz="1100">
                <a:solidFill>
                  <a:srgbClr val="98C379"/>
                </a:solidFill>
                <a:latin typeface="Consolas"/>
              </a:defRPr>
            </a:pPr>
            <a:r>
              <a:t>        self.alpha = alpha         # Patch effectiveness</a:t>
            </a:r>
          </a:p>
          <a:p>
            <a:pPr>
              <a:spcAft>
                <a:spcPts val="200"/>
              </a:spcAft>
              <a:defRPr sz="1100">
                <a:solidFill>
                  <a:srgbClr val="98C379"/>
                </a:solidFill>
                <a:latin typeface="Consolas"/>
              </a:defRPr>
            </a:pPr>
            <a:r>
              <a:t>        self.tau = tau             # Training effectiveness</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def step(self):</a:t>
            </a:r>
          </a:p>
          <a:p>
            <a:pPr>
              <a:spcAft>
                <a:spcPts val="200"/>
              </a:spcAft>
              <a:defRPr sz="1100">
                <a:solidFill>
                  <a:srgbClr val="98C379"/>
                </a:solidFill>
                <a:latin typeface="Consolas"/>
              </a:defRPr>
            </a:pPr>
            <a:r>
              <a:t>        # 1. Update vulnerability</a:t>
            </a:r>
          </a:p>
          <a:p>
            <a:pPr>
              <a:spcAft>
                <a:spcPts val="200"/>
              </a:spcAft>
              <a:defRPr sz="1100">
                <a:solidFill>
                  <a:srgbClr val="98C379"/>
                </a:solidFill>
                <a:latin typeface="Consolas"/>
              </a:defRPr>
            </a:pPr>
            <a:r>
              <a:t>        self.vulnerability = (self.vulnerability</a:t>
            </a:r>
          </a:p>
          <a:p>
            <a:pPr>
              <a:spcAft>
                <a:spcPts val="200"/>
              </a:spcAft>
              <a:defRPr sz="1100">
                <a:solidFill>
                  <a:srgbClr val="98C379"/>
                </a:solidFill>
                <a:latin typeface="Consolas"/>
              </a:defRPr>
            </a:pPr>
            <a:r>
              <a:t>            * (1 - self.alpha * self.patch_level)</a:t>
            </a:r>
          </a:p>
          <a:p>
            <a:pPr>
              <a:spcAft>
                <a:spcPts val="200"/>
              </a:spcAft>
              <a:defRPr sz="1100">
                <a:solidFill>
                  <a:srgbClr val="98C379"/>
                </a:solidFill>
                <a:latin typeface="Consolas"/>
              </a:defRPr>
            </a:pPr>
            <a:r>
              <a:t>            * (1 - self.tau * self.user_awareness)</a:t>
            </a:r>
          </a:p>
          <a:p>
            <a:pPr>
              <a:spcAft>
                <a:spcPts val="200"/>
              </a:spcAft>
              <a:defRPr sz="1100">
                <a:solidFill>
                  <a:srgbClr val="98C379"/>
                </a:solidFill>
                <a:latin typeface="Consolas"/>
              </a:defRPr>
            </a:pPr>
            <a:r>
              <a:t>            + EPSILON)</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2. Infection logic</a:t>
            </a:r>
          </a:p>
          <a:p>
            <a:pPr>
              <a:spcAft>
                <a:spcPts val="200"/>
              </a:spcAft>
              <a:defRPr sz="1100">
                <a:solidFill>
                  <a:srgbClr val="98C379"/>
                </a:solidFill>
                <a:latin typeface="Consolas"/>
              </a:defRPr>
            </a:pPr>
            <a:r>
              <a:t>        if self.state == NodeState.SUSCEPTIBLE:</a:t>
            </a:r>
          </a:p>
          <a:p>
            <a:pPr>
              <a:spcAft>
                <a:spcPts val="200"/>
              </a:spcAft>
              <a:defRPr sz="1100">
                <a:solidFill>
                  <a:srgbClr val="98C379"/>
                </a:solidFill>
                <a:latin typeface="Consolas"/>
              </a:defRPr>
            </a:pPr>
            <a:r>
              <a:t>            infected_neighbors = sum(1 for n in self.neighbors</a:t>
            </a:r>
          </a:p>
          <a:p>
            <a:pPr>
              <a:spcAft>
                <a:spcPts val="200"/>
              </a:spcAft>
              <a:defRPr sz="1100">
                <a:solidFill>
                  <a:srgbClr val="98C379"/>
                </a:solidFill>
                <a:latin typeface="Consolas"/>
              </a:defRPr>
            </a:pPr>
            <a:r>
              <a:t>                                     if n.state == NodeState.INFECTED)</a:t>
            </a:r>
          </a:p>
          <a:p>
            <a:pPr>
              <a:spcAft>
                <a:spcPts val="200"/>
              </a:spcAft>
              <a:defRPr sz="1100">
                <a:solidFill>
                  <a:srgbClr val="98C379"/>
                </a:solidFill>
                <a:latin typeface="Consolas"/>
              </a:defRPr>
            </a:pPr>
            <a:r>
              <a:t>            prob = (BETA * self.vulnerability</a:t>
            </a:r>
          </a:p>
          <a:p>
            <a:pPr>
              <a:spcAft>
                <a:spcPts val="200"/>
              </a:spcAft>
              <a:defRPr sz="1100">
                <a:solidFill>
                  <a:srgbClr val="98C379"/>
                </a:solidFill>
                <a:latin typeface="Consolas"/>
              </a:defRPr>
            </a:pPr>
            <a:r>
              <a:t>                    * (1 - self.user_awareness)</a:t>
            </a:r>
          </a:p>
          <a:p>
            <a:pPr>
              <a:spcAft>
                <a:spcPts val="200"/>
              </a:spcAft>
              <a:defRPr sz="1100">
                <a:solidFill>
                  <a:srgbClr val="98C379"/>
                </a:solidFill>
                <a:latin typeface="Consolas"/>
              </a:defRPr>
            </a:pPr>
            <a:r>
              <a:t>                    * infected_neighbors / max(len(self.neighbors), 1))</a:t>
            </a:r>
          </a:p>
          <a:p>
            <a:pPr>
              <a:spcAft>
                <a:spcPts val="200"/>
              </a:spcAft>
              <a:defRPr sz="1100">
                <a:solidFill>
                  <a:srgbClr val="98C379"/>
                </a:solidFill>
                <a:latin typeface="Consolas"/>
              </a:defRPr>
            </a:pPr>
            <a:r>
              <a:t>            if random.random() &lt; prob:</a:t>
            </a:r>
          </a:p>
          <a:p>
            <a:pPr>
              <a:spcAft>
                <a:spcPts val="200"/>
              </a:spcAft>
              <a:defRPr sz="1100">
                <a:solidFill>
                  <a:srgbClr val="98C379"/>
                </a:solidFill>
                <a:latin typeface="Consolas"/>
              </a:defRPr>
            </a:pPr>
            <a:r>
              <a:t>                self.state = NodeState.INFECTED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Kode: Kelas CyberThreatModel</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11430000" cy="54864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10881360" cy="5120640"/>
          </a:xfrm>
          <a:prstGeom prst="rect">
            <a:avLst/>
          </a:prstGeom>
          <a:noFill/>
        </p:spPr>
        <p:txBody>
          <a:bodyPr wrap="square">
            <a:spAutoFit/>
          </a:bodyPr>
          <a:lstStyle/>
          <a:p>
            <a:pPr>
              <a:spcAft>
                <a:spcPts val="200"/>
              </a:spcAft>
              <a:defRPr sz="1100">
                <a:solidFill>
                  <a:srgbClr val="98C379"/>
                </a:solidFill>
                <a:latin typeface="Consolas"/>
              </a:defRPr>
            </a:pPr>
            <a:r>
              <a:t>class CyberThreatModel(Model):</a:t>
            </a:r>
          </a:p>
          <a:p>
            <a:pPr>
              <a:spcAft>
                <a:spcPts val="200"/>
              </a:spcAft>
              <a:defRPr sz="1100">
                <a:solidFill>
                  <a:srgbClr val="98C379"/>
                </a:solidFill>
                <a:latin typeface="Consolas"/>
              </a:defRPr>
            </a:pPr>
            <a:r>
              <a:t>    def __init__(self, seed=42, alpha=0.0, tau=0.0):</a:t>
            </a:r>
          </a:p>
          <a:p>
            <a:pPr>
              <a:spcAft>
                <a:spcPts val="200"/>
              </a:spcAft>
              <a:defRPr sz="1100">
                <a:solidFill>
                  <a:srgbClr val="98C379"/>
                </a:solidFill>
                <a:latin typeface="Consolas"/>
              </a:defRPr>
            </a:pPr>
            <a:r>
              <a:t>        super().__init__(seed=seed)</a:t>
            </a:r>
          </a:p>
          <a:p>
            <a:pPr>
              <a:spcAft>
                <a:spcPts val="200"/>
              </a:spcAft>
              <a:defRPr sz="1100">
                <a:solidFill>
                  <a:srgbClr val="98C379"/>
                </a:solidFill>
                <a:latin typeface="Consolas"/>
              </a:defRPr>
            </a:pPr>
            <a:r>
              <a:t>        self.graph = nx.erdos_renyi_graph(N_AGENTS, EDGE_PROB, seed=seed)</a:t>
            </a:r>
          </a:p>
          <a:p>
            <a:pPr>
              <a:spcAft>
                <a:spcPts val="200"/>
              </a:spcAft>
              <a:defRPr sz="1100">
                <a:solidFill>
                  <a:srgbClr val="98C379"/>
                </a:solidFill>
                <a:latin typeface="Consolas"/>
              </a:defRPr>
            </a:pPr>
            <a:r>
              <a:t>        self.agents_dict = {}</a:t>
            </a:r>
          </a:p>
          <a:p>
            <a:pPr>
              <a:spcAft>
                <a:spcPts val="200"/>
              </a:spcAft>
              <a:defRPr sz="1100">
                <a:solidFill>
                  <a:srgbClr val="98C379"/>
                </a:solidFill>
                <a:latin typeface="Consolas"/>
              </a:defRPr>
            </a:pPr>
            <a:r>
              <a:t>        # Create agents</a:t>
            </a:r>
          </a:p>
          <a:p>
            <a:pPr>
              <a:spcAft>
                <a:spcPts val="200"/>
              </a:spcAft>
              <a:defRPr sz="1100">
                <a:solidFill>
                  <a:srgbClr val="98C379"/>
                </a:solidFill>
                <a:latin typeface="Consolas"/>
              </a:defRPr>
            </a:pPr>
            <a:r>
              <a:t>        for i in range(N_AGENTS):</a:t>
            </a:r>
          </a:p>
          <a:p>
            <a:pPr>
              <a:spcAft>
                <a:spcPts val="200"/>
              </a:spcAft>
              <a:defRPr sz="1100">
                <a:solidFill>
                  <a:srgbClr val="98C379"/>
                </a:solidFill>
                <a:latin typeface="Consolas"/>
              </a:defRPr>
            </a:pPr>
            <a:r>
              <a:t>            agent = ServerNode(self, alpha, tau)</a:t>
            </a:r>
          </a:p>
          <a:p>
            <a:pPr>
              <a:spcAft>
                <a:spcPts val="200"/>
              </a:spcAft>
              <a:defRPr sz="1100">
                <a:solidFill>
                  <a:srgbClr val="98C379"/>
                </a:solidFill>
                <a:latin typeface="Consolas"/>
              </a:defRPr>
            </a:pPr>
            <a:r>
              <a:t>            self.agents_dict[i] = agent</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Set neighbors from graph edges</a:t>
            </a:r>
          </a:p>
          <a:p>
            <a:pPr>
              <a:spcAft>
                <a:spcPts val="200"/>
              </a:spcAft>
              <a:defRPr sz="1100">
                <a:solidFill>
                  <a:srgbClr val="98C379"/>
                </a:solidFill>
                <a:latin typeface="Consolas"/>
              </a:defRPr>
            </a:pPr>
            <a:r>
              <a:t>        for node_id, agent in self.agents_dict.items():</a:t>
            </a:r>
          </a:p>
          <a:p>
            <a:pPr>
              <a:spcAft>
                <a:spcPts val="200"/>
              </a:spcAft>
              <a:defRPr sz="1100">
                <a:solidFill>
                  <a:srgbClr val="98C379"/>
                </a:solidFill>
                <a:latin typeface="Consolas"/>
              </a:defRPr>
            </a:pPr>
            <a:r>
              <a:t>            agent.neighbors = [self.agents_dict[n]</a:t>
            </a:r>
          </a:p>
          <a:p>
            <a:pPr>
              <a:spcAft>
                <a:spcPts val="200"/>
              </a:spcAft>
              <a:defRPr sz="1100">
                <a:solidFill>
                  <a:srgbClr val="98C379"/>
                </a:solidFill>
                <a:latin typeface="Consolas"/>
              </a:defRPr>
            </a:pPr>
            <a:r>
              <a:t>                               for n in self.graph.neighbors(node_id)]</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Initial infection: infect 5 nodes</a:t>
            </a:r>
          </a:p>
          <a:p>
            <a:pPr>
              <a:spcAft>
                <a:spcPts val="200"/>
              </a:spcAft>
              <a:defRPr sz="1100">
                <a:solidFill>
                  <a:srgbClr val="98C379"/>
                </a:solidFill>
                <a:latin typeface="Consolas"/>
              </a:defRPr>
            </a:pPr>
            <a:r>
              <a:t>        initial_infected = random.sample(list(self.agents_dict.values()), 5)</a:t>
            </a:r>
          </a:p>
          <a:p>
            <a:pPr>
              <a:spcAft>
                <a:spcPts val="200"/>
              </a:spcAft>
              <a:defRPr sz="1100">
                <a:solidFill>
                  <a:srgbClr val="98C379"/>
                </a:solidFill>
                <a:latin typeface="Consolas"/>
              </a:defRPr>
            </a:pPr>
            <a:r>
              <a:t>        for agent in initial_infected:</a:t>
            </a:r>
          </a:p>
          <a:p>
            <a:pPr>
              <a:spcAft>
                <a:spcPts val="200"/>
              </a:spcAft>
              <a:defRPr sz="1100">
                <a:solidFill>
                  <a:srgbClr val="98C379"/>
                </a:solidFill>
                <a:latin typeface="Consolas"/>
              </a:defRPr>
            </a:pPr>
            <a:r>
              <a:t>            agent.state = NodeState.INFECTED</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Data collector</a:t>
            </a:r>
          </a:p>
          <a:p>
            <a:pPr>
              <a:spcAft>
                <a:spcPts val="200"/>
              </a:spcAft>
              <a:defRPr sz="1100">
                <a:solidFill>
                  <a:srgbClr val="98C379"/>
                </a:solidFill>
                <a:latin typeface="Consolas"/>
              </a:defRPr>
            </a:pPr>
            <a:r>
              <a:t>        self.datacollector = DataCollector(...)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Kode: Monte Carlo Runner</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11430000" cy="41148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10881360" cy="3749040"/>
          </a:xfrm>
          <a:prstGeom prst="rect">
            <a:avLst/>
          </a:prstGeom>
          <a:noFill/>
        </p:spPr>
        <p:txBody>
          <a:bodyPr wrap="square">
            <a:spAutoFit/>
          </a:bodyPr>
          <a:lstStyle/>
          <a:p>
            <a:pPr>
              <a:spcAft>
                <a:spcPts val="200"/>
              </a:spcAft>
              <a:defRPr sz="1200">
                <a:solidFill>
                  <a:srgbClr val="98C379"/>
                </a:solidFill>
                <a:latin typeface="Consolas"/>
              </a:defRPr>
            </a:pPr>
            <a:r>
              <a:t>def run_scenario(alpha, tau, n_runs=30, n_steps=200):</a:t>
            </a:r>
          </a:p>
          <a:p>
            <a:pPr>
              <a:spcAft>
                <a:spcPts val="200"/>
              </a:spcAft>
              <a:defRPr sz="1200">
                <a:solidFill>
                  <a:srgbClr val="98C379"/>
                </a:solidFill>
                <a:latin typeface="Consolas"/>
              </a:defRPr>
            </a:pPr>
            <a:r>
              <a:t>    all_runs_data = []</a:t>
            </a:r>
          </a:p>
          <a:p>
            <a:pPr>
              <a:spcAft>
                <a:spcPts val="200"/>
              </a:spcAft>
              <a:defRPr sz="1200">
                <a:solidFill>
                  <a:srgbClr val="98C379"/>
                </a:solidFill>
                <a:latin typeface="Consolas"/>
              </a:defRPr>
            </a:pPr>
          </a:p>
          <a:p>
            <a:pPr>
              <a:spcAft>
                <a:spcPts val="200"/>
              </a:spcAft>
              <a:defRPr sz="1200">
                <a:solidFill>
                  <a:srgbClr val="98C379"/>
                </a:solidFill>
                <a:latin typeface="Consolas"/>
              </a:defRPr>
            </a:pPr>
            <a:r>
              <a:t>    for run_id in range(1, n_runs + 1):</a:t>
            </a:r>
          </a:p>
          <a:p>
            <a:pPr>
              <a:spcAft>
                <a:spcPts val="200"/>
              </a:spcAft>
              <a:defRPr sz="1200">
                <a:solidFill>
                  <a:srgbClr val="98C379"/>
                </a:solidFill>
                <a:latin typeface="Consolas"/>
              </a:defRPr>
            </a:pPr>
            <a:r>
              <a:t>        model = CyberThreatModel(seed=run_id * 10, alpha=alpha, tau=tau)</a:t>
            </a:r>
          </a:p>
          <a:p>
            <a:pPr>
              <a:spcAft>
                <a:spcPts val="200"/>
              </a:spcAft>
              <a:defRPr sz="1200">
                <a:solidFill>
                  <a:srgbClr val="98C379"/>
                </a:solidFill>
                <a:latin typeface="Consolas"/>
              </a:defRPr>
            </a:pPr>
          </a:p>
          <a:p>
            <a:pPr>
              <a:spcAft>
                <a:spcPts val="200"/>
              </a:spcAft>
              <a:defRPr sz="1200">
                <a:solidFill>
                  <a:srgbClr val="98C379"/>
                </a:solidFill>
                <a:latin typeface="Consolas"/>
              </a:defRPr>
            </a:pPr>
            <a:r>
              <a:t>        for step in range(n_steps):</a:t>
            </a:r>
          </a:p>
          <a:p>
            <a:pPr>
              <a:spcAft>
                <a:spcPts val="200"/>
              </a:spcAft>
              <a:defRPr sz="1200">
                <a:solidFill>
                  <a:srgbClr val="98C379"/>
                </a:solidFill>
                <a:latin typeface="Consolas"/>
              </a:defRPr>
            </a:pPr>
            <a:r>
              <a:t>            model.step()  # Semua agent melakukan step</a:t>
            </a:r>
          </a:p>
          <a:p>
            <a:pPr>
              <a:spcAft>
                <a:spcPts val="200"/>
              </a:spcAft>
              <a:defRPr sz="1200">
                <a:solidFill>
                  <a:srgbClr val="98C379"/>
                </a:solidFill>
                <a:latin typeface="Consolas"/>
              </a:defRPr>
            </a:pPr>
          </a:p>
          <a:p>
            <a:pPr>
              <a:spcAft>
                <a:spcPts val="200"/>
              </a:spcAft>
              <a:defRPr sz="1200">
                <a:solidFill>
                  <a:srgbClr val="98C379"/>
                </a:solidFill>
                <a:latin typeface="Consolas"/>
              </a:defRPr>
            </a:pPr>
            <a:r>
              <a:t>        # Kumpulkan data dari DataCollector</a:t>
            </a:r>
          </a:p>
          <a:p>
            <a:pPr>
              <a:spcAft>
                <a:spcPts val="200"/>
              </a:spcAft>
              <a:defRPr sz="1200">
                <a:solidFill>
                  <a:srgbClr val="98C379"/>
                </a:solidFill>
                <a:latin typeface="Consolas"/>
              </a:defRPr>
            </a:pPr>
            <a:r>
              <a:t>        df = model.datacollector.get_agent_vars_dataframe()</a:t>
            </a:r>
          </a:p>
          <a:p>
            <a:pPr>
              <a:spcAft>
                <a:spcPts val="200"/>
              </a:spcAft>
              <a:defRPr sz="1200">
                <a:solidFill>
                  <a:srgbClr val="98C379"/>
                </a:solidFill>
                <a:latin typeface="Consolas"/>
              </a:defRPr>
            </a:pPr>
            <a:r>
              <a:t>        all_runs_data.append(df)</a:t>
            </a:r>
          </a:p>
          <a:p>
            <a:pPr>
              <a:spcAft>
                <a:spcPts val="200"/>
              </a:spcAft>
              <a:defRPr sz="1200">
                <a:solidFill>
                  <a:srgbClr val="98C379"/>
                </a:solidFill>
                <a:latin typeface="Consolas"/>
              </a:defRPr>
            </a:pPr>
          </a:p>
          <a:p>
            <a:pPr>
              <a:spcAft>
                <a:spcPts val="200"/>
              </a:spcAft>
              <a:defRPr sz="1200">
                <a:solidFill>
                  <a:srgbClr val="98C379"/>
                </a:solidFill>
                <a:latin typeface="Consolas"/>
              </a:defRPr>
            </a:pPr>
            <a:r>
              <a:t>    # Gabungkan semua runs</a:t>
            </a:r>
          </a:p>
          <a:p>
            <a:pPr>
              <a:spcAft>
                <a:spcPts val="200"/>
              </a:spcAft>
              <a:defRPr sz="1200">
                <a:solidFill>
                  <a:srgbClr val="98C379"/>
                </a:solidFill>
                <a:latin typeface="Consolas"/>
              </a:defRPr>
            </a:pPr>
            <a:r>
              <a:t>    df_all = pd.concat(all_runs_data, keys=range(1, n_runs + 1))</a:t>
            </a:r>
          </a:p>
          <a:p>
            <a:pPr>
              <a:spcAft>
                <a:spcPts val="200"/>
              </a:spcAft>
              <a:defRPr sz="1200">
                <a:solidFill>
                  <a:srgbClr val="98C379"/>
                </a:solidFill>
                <a:latin typeface="Consolas"/>
              </a:defRPr>
            </a:pPr>
            <a:r>
              <a:t>    return df_all</a:t>
            </a:r>
          </a:p>
        </p:txBody>
      </p:sp>
      <p:sp>
        <p:nvSpPr>
          <p:cNvPr id="7" name="TextBox 6"/>
          <p:cNvSpPr txBox="1"/>
          <p:nvPr/>
        </p:nvSpPr>
        <p:spPr>
          <a:xfrm>
            <a:off x="548640" y="5303520"/>
            <a:ext cx="10972800" cy="1371600"/>
          </a:xfrm>
          <a:prstGeom prst="rect">
            <a:avLst/>
          </a:prstGeom>
          <a:noFill/>
        </p:spPr>
        <p:txBody>
          <a:bodyPr wrap="square">
            <a:spAutoFit/>
          </a:bodyPr>
          <a:lstStyle/>
          <a:p>
            <a:pPr algn="l">
              <a:defRPr sz="1400" b="0">
                <a:solidFill>
                  <a:srgbClr val="7F8C8D"/>
                </a:solidFill>
                <a:latin typeface="Calibri"/>
              </a:defRPr>
            </a:pPr>
            <a:r>
              <a:t>Fungsi ini dipanggil 4 kali (satu per skenario) dengan parameter alpha dan tau berbeda.</a:t>
            </a:r>
            <a:br/>
            <a:r>
              <a:t>Hasil: 24,000 baris data gabungan untuk analisis.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Hasil Simulasi &amp; Visualisasi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Hasil Agregat (Rata-rata 30 Runs per Skenario)</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1371600" y="1371600"/>
          <a:ext cx="9144000" cy="2743200"/>
        </p:xfrm>
        <a:graphic>
          <a:graphicData uri="http://schemas.openxmlformats.org/drawingml/2006/table">
            <a:tbl>
              <a:tblPr firstRow="1" bandRow="1">
                <a:tableStyleId>{5C22544A-7EE6-4342-B048-85BDC9FD1C3A}</a:tableStyleId>
              </a:tblPr>
              <a:tblGrid>
                <a:gridCol w="1828800"/>
                <a:gridCol w="1828800"/>
                <a:gridCol w="1828800"/>
                <a:gridCol w="1828800"/>
                <a:gridCol w="1828800"/>
              </a:tblGrid>
              <a:tr h="548640">
                <a:tc>
                  <a:txBody>
                    <a:bodyPr/>
                    <a:lstStyle/>
                    <a:p>
                      <a:pPr algn="ctr">
                        <a:defRPr sz="1400" b="1">
                          <a:solidFill>
                            <a:srgbClr val="FFFFFF"/>
                          </a:solidFill>
                        </a:defRPr>
                      </a:pPr>
                      <a:r>
                        <a:t>Scenario</a:t>
                      </a:r>
                    </a:p>
                  </a:txBody>
                  <a:tcPr>
                    <a:solidFill>
                      <a:srgbClr val="1a233b"/>
                    </a:solidFill>
                  </a:tcPr>
                </a:tc>
                <a:tc>
                  <a:txBody>
                    <a:bodyPr/>
                    <a:lstStyle/>
                    <a:p>
                      <a:pPr algn="ctr">
                        <a:defRPr sz="1400" b="1">
                          <a:solidFill>
                            <a:srgbClr val="FFFFFF"/>
                          </a:solidFill>
                        </a:defRPr>
                      </a:pPr>
                      <a:r>
                        <a:t>Peak Infected</a:t>
                      </a:r>
                    </a:p>
                  </a:txBody>
                  <a:tcPr>
                    <a:solidFill>
                      <a:srgbClr val="1a233b"/>
                    </a:solidFill>
                  </a:tcPr>
                </a:tc>
                <a:tc>
                  <a:txBody>
                    <a:bodyPr/>
                    <a:lstStyle/>
                    <a:p>
                      <a:pPr algn="ctr">
                        <a:defRPr sz="1400" b="1">
                          <a:solidFill>
                            <a:srgbClr val="FFFFFF"/>
                          </a:solidFill>
                        </a:defRPr>
                      </a:pPr>
                      <a:r>
                        <a:t>Mean Infected</a:t>
                      </a:r>
                    </a:p>
                  </a:txBody>
                  <a:tcPr>
                    <a:solidFill>
                      <a:srgbClr val="1a233b"/>
                    </a:solidFill>
                  </a:tcPr>
                </a:tc>
                <a:tc>
                  <a:txBody>
                    <a:bodyPr/>
                    <a:lstStyle/>
                    <a:p>
                      <a:pPr algn="ctr">
                        <a:defRPr sz="1400" b="1">
                          <a:solidFill>
                            <a:srgbClr val="FFFFFF"/>
                          </a:solidFill>
                        </a:defRPr>
                      </a:pPr>
                      <a:r>
                        <a:t>Mean Vulnerability</a:t>
                      </a:r>
                    </a:p>
                  </a:txBody>
                  <a:tcPr>
                    <a:solidFill>
                      <a:srgbClr val="1a233b"/>
                    </a:solidFill>
                  </a:tcPr>
                </a:tc>
                <a:tc>
                  <a:txBody>
                    <a:bodyPr/>
                    <a:lstStyle/>
                    <a:p>
                      <a:pPr algn="ctr">
                        <a:defRPr sz="1400" b="1">
                          <a:solidFill>
                            <a:srgbClr val="FFFFFF"/>
                          </a:solidFill>
                        </a:defRPr>
                      </a:pPr>
                      <a:r>
                        <a:t>Reduction</a:t>
                      </a:r>
                    </a:p>
                  </a:txBody>
                  <a:tcPr>
                    <a:solidFill>
                      <a:srgbClr val="1a233b"/>
                    </a:solidFill>
                  </a:tcPr>
                </a:tc>
              </a:tr>
              <a:tr h="548640">
                <a:tc>
                  <a:txBody>
                    <a:bodyPr/>
                    <a:lstStyle/>
                    <a:p>
                      <a:pPr algn="ctr">
                        <a:defRPr sz="1300">
                          <a:solidFill>
                            <a:srgbClr val="2C3E50"/>
                          </a:solidFill>
                        </a:defRPr>
                      </a:pPr>
                      <a:r>
                        <a:t>Baseline</a:t>
                      </a:r>
                    </a:p>
                  </a:txBody>
                  <a:tcPr/>
                </a:tc>
                <a:tc>
                  <a:txBody>
                    <a:bodyPr/>
                    <a:lstStyle/>
                    <a:p>
                      <a:pPr algn="ctr">
                        <a:defRPr sz="1300">
                          <a:solidFill>
                            <a:srgbClr val="2C3E50"/>
                          </a:solidFill>
                        </a:defRPr>
                      </a:pPr>
                      <a:r>
                        <a:t>7.50</a:t>
                      </a:r>
                    </a:p>
                  </a:txBody>
                  <a:tcPr/>
                </a:tc>
                <a:tc>
                  <a:txBody>
                    <a:bodyPr/>
                    <a:lstStyle/>
                    <a:p>
                      <a:pPr algn="ctr">
                        <a:defRPr sz="1300">
                          <a:solidFill>
                            <a:srgbClr val="2C3E50"/>
                          </a:solidFill>
                        </a:defRPr>
                      </a:pPr>
                      <a:r>
                        <a:t>3.85</a:t>
                      </a:r>
                    </a:p>
                  </a:txBody>
                  <a:tcPr/>
                </a:tc>
                <a:tc>
                  <a:txBody>
                    <a:bodyPr/>
                    <a:lstStyle/>
                    <a:p>
                      <a:pPr algn="ctr">
                        <a:defRPr sz="1300">
                          <a:solidFill>
                            <a:srgbClr val="2C3E50"/>
                          </a:solidFill>
                        </a:defRPr>
                      </a:pPr>
                      <a:r>
                        <a:t>0.52</a:t>
                      </a:r>
                    </a:p>
                  </a:txBody>
                  <a:tcPr/>
                </a:tc>
                <a:tc>
                  <a:txBody>
                    <a:bodyPr/>
                    <a:lstStyle/>
                    <a:p>
                      <a:pPr algn="ctr">
                        <a:defRPr sz="1300">
                          <a:solidFill>
                            <a:srgbClr val="2C3E50"/>
                          </a:solidFill>
                        </a:defRPr>
                      </a:pPr>
                      <a:r>
                        <a:t>-</a:t>
                      </a:r>
                    </a:p>
                  </a:txBody>
                  <a:tcPr/>
                </a:tc>
              </a:tr>
              <a:tr h="548640">
                <a:tc>
                  <a:txBody>
                    <a:bodyPr/>
                    <a:lstStyle/>
                    <a:p>
                      <a:pPr algn="ctr">
                        <a:defRPr sz="1300">
                          <a:solidFill>
                            <a:srgbClr val="2C3E50"/>
                          </a:solidFill>
                        </a:defRPr>
                      </a:pPr>
                      <a:r>
                        <a:t>Patch Only</a:t>
                      </a:r>
                    </a:p>
                  </a:txBody>
                  <a:tcPr/>
                </a:tc>
                <a:tc>
                  <a:txBody>
                    <a:bodyPr/>
                    <a:lstStyle/>
                    <a:p>
                      <a:pPr algn="ctr">
                        <a:defRPr sz="1300">
                          <a:solidFill>
                            <a:srgbClr val="2C3E50"/>
                          </a:solidFill>
                        </a:defRPr>
                      </a:pPr>
                      <a:r>
                        <a:t>6.00</a:t>
                      </a:r>
                    </a:p>
                  </a:txBody>
                  <a:tcPr/>
                </a:tc>
                <a:tc>
                  <a:txBody>
                    <a:bodyPr/>
                    <a:lstStyle/>
                    <a:p>
                      <a:pPr algn="ctr">
                        <a:defRPr sz="1300">
                          <a:solidFill>
                            <a:srgbClr val="2C3E50"/>
                          </a:solidFill>
                        </a:defRPr>
                      </a:pPr>
                      <a:r>
                        <a:t>2.98</a:t>
                      </a:r>
                    </a:p>
                  </a:txBody>
                  <a:tcPr/>
                </a:tc>
                <a:tc>
                  <a:txBody>
                    <a:bodyPr/>
                    <a:lstStyle/>
                    <a:p>
                      <a:pPr algn="ctr">
                        <a:defRPr sz="1300">
                          <a:solidFill>
                            <a:srgbClr val="2C3E50"/>
                          </a:solidFill>
                        </a:defRPr>
                      </a:pPr>
                      <a:r>
                        <a:t>0.38</a:t>
                      </a:r>
                    </a:p>
                  </a:txBody>
                  <a:tcPr/>
                </a:tc>
                <a:tc>
                  <a:txBody>
                    <a:bodyPr/>
                    <a:lstStyle/>
                    <a:p>
                      <a:pPr algn="ctr">
                        <a:defRPr sz="1300">
                          <a:solidFill>
                            <a:srgbClr val="2C3E50"/>
                          </a:solidFill>
                        </a:defRPr>
                      </a:pPr>
                      <a:r>
                        <a:t>20.0%</a:t>
                      </a:r>
                    </a:p>
                  </a:txBody>
                  <a:tcPr/>
                </a:tc>
              </a:tr>
              <a:tr h="548640">
                <a:tc>
                  <a:txBody>
                    <a:bodyPr/>
                    <a:lstStyle/>
                    <a:p>
                      <a:pPr algn="ctr">
                        <a:defRPr sz="1300">
                          <a:solidFill>
                            <a:srgbClr val="2C3E50"/>
                          </a:solidFill>
                        </a:defRPr>
                      </a:pPr>
                      <a:r>
                        <a:t>Training Only</a:t>
                      </a:r>
                    </a:p>
                  </a:txBody>
                  <a:tcPr/>
                </a:tc>
                <a:tc>
                  <a:txBody>
                    <a:bodyPr/>
                    <a:lstStyle/>
                    <a:p>
                      <a:pPr algn="ctr">
                        <a:defRPr sz="1300">
                          <a:solidFill>
                            <a:srgbClr val="2C3E50"/>
                          </a:solidFill>
                        </a:defRPr>
                      </a:pPr>
                      <a:r>
                        <a:t>6.50</a:t>
                      </a:r>
                    </a:p>
                  </a:txBody>
                  <a:tcPr/>
                </a:tc>
                <a:tc>
                  <a:txBody>
                    <a:bodyPr/>
                    <a:lstStyle/>
                    <a:p>
                      <a:pPr algn="ctr">
                        <a:defRPr sz="1300">
                          <a:solidFill>
                            <a:srgbClr val="2C3E50"/>
                          </a:solidFill>
                        </a:defRPr>
                      </a:pPr>
                      <a:r>
                        <a:t>3.25</a:t>
                      </a:r>
                    </a:p>
                  </a:txBody>
                  <a:tcPr/>
                </a:tc>
                <a:tc>
                  <a:txBody>
                    <a:bodyPr/>
                    <a:lstStyle/>
                    <a:p>
                      <a:pPr algn="ctr">
                        <a:defRPr sz="1300">
                          <a:solidFill>
                            <a:srgbClr val="2C3E50"/>
                          </a:solidFill>
                        </a:defRPr>
                      </a:pPr>
                      <a:r>
                        <a:t>0.44</a:t>
                      </a:r>
                    </a:p>
                  </a:txBody>
                  <a:tcPr/>
                </a:tc>
                <a:tc>
                  <a:txBody>
                    <a:bodyPr/>
                    <a:lstStyle/>
                    <a:p>
                      <a:pPr algn="ctr">
                        <a:defRPr sz="1300">
                          <a:solidFill>
                            <a:srgbClr val="2C3E50"/>
                          </a:solidFill>
                        </a:defRPr>
                      </a:pPr>
                      <a:r>
                        <a:t>13.3%</a:t>
                      </a:r>
                    </a:p>
                  </a:txBody>
                  <a:tcPr/>
                </a:tc>
              </a:tr>
              <a:tr h="548640">
                <a:tc>
                  <a:txBody>
                    <a:bodyPr/>
                    <a:lstStyle/>
                    <a:p>
                      <a:pPr algn="ctr">
                        <a:defRPr sz="1300" b="1">
                          <a:solidFill>
                            <a:srgbClr val="2C3E50"/>
                          </a:solidFill>
                        </a:defRPr>
                      </a:pPr>
                      <a:r>
                        <a:t>Combined</a:t>
                      </a:r>
                    </a:p>
                  </a:txBody>
                  <a:tcPr/>
                </a:tc>
                <a:tc>
                  <a:txBody>
                    <a:bodyPr/>
                    <a:lstStyle/>
                    <a:p>
                      <a:pPr algn="ctr">
                        <a:defRPr sz="1300" b="1">
                          <a:solidFill>
                            <a:srgbClr val="2C3E50"/>
                          </a:solidFill>
                        </a:defRPr>
                      </a:pPr>
                      <a:r>
                        <a:t>5.00</a:t>
                      </a:r>
                    </a:p>
                  </a:txBody>
                  <a:tcPr/>
                </a:tc>
                <a:tc>
                  <a:txBody>
                    <a:bodyPr/>
                    <a:lstStyle/>
                    <a:p>
                      <a:pPr algn="ctr">
                        <a:defRPr sz="1300" b="1">
                          <a:solidFill>
                            <a:srgbClr val="2C3E50"/>
                          </a:solidFill>
                        </a:defRPr>
                      </a:pPr>
                      <a:r>
                        <a:t>2.45</a:t>
                      </a:r>
                    </a:p>
                  </a:txBody>
                  <a:tcPr/>
                </a:tc>
                <a:tc>
                  <a:txBody>
                    <a:bodyPr/>
                    <a:lstStyle/>
                    <a:p>
                      <a:pPr algn="ctr">
                        <a:defRPr sz="1300" b="1">
                          <a:solidFill>
                            <a:srgbClr val="2C3E50"/>
                          </a:solidFill>
                        </a:defRPr>
                      </a:pPr>
                      <a:r>
                        <a:t>0.31</a:t>
                      </a:r>
                    </a:p>
                  </a:txBody>
                  <a:tcPr/>
                </a:tc>
                <a:tc>
                  <a:txBody>
                    <a:bodyPr/>
                    <a:lstStyle/>
                    <a:p>
                      <a:pPr algn="ctr">
                        <a:defRPr sz="1300" b="1">
                          <a:solidFill>
                            <a:srgbClr val="2C3E50"/>
                          </a:solidFill>
                        </a:defRPr>
                      </a:pPr>
                      <a:r>
                        <a:t>33.3%</a:t>
                      </a:r>
                    </a:p>
                  </a:txBody>
                  <a:tcPr/>
                </a:tc>
              </a:tr>
            </a:tbl>
          </a:graphicData>
        </a:graphic>
      </p:graphicFrame>
      <p:sp>
        <p:nvSpPr>
          <p:cNvPr id="6" name="TextBox 5"/>
          <p:cNvSpPr txBox="1"/>
          <p:nvPr/>
        </p:nvSpPr>
        <p:spPr>
          <a:xfrm>
            <a:off x="548640" y="4572000"/>
            <a:ext cx="10972800" cy="1371600"/>
          </a:xfrm>
          <a:prstGeom prst="rect">
            <a:avLst/>
          </a:prstGeom>
          <a:noFill/>
        </p:spPr>
        <p:txBody>
          <a:bodyPr wrap="square">
            <a:spAutoFit/>
          </a:bodyPr>
          <a:lstStyle/>
          <a:p>
            <a:pPr algn="l">
              <a:defRPr sz="1600" b="1">
                <a:solidFill>
                  <a:srgbClr val="2C3E6B"/>
                </a:solidFill>
                <a:latin typeface="Calibri"/>
              </a:defRPr>
            </a:pPr>
            <a:r>
              <a:t>Combined Intervention: 33.3% reduksi peak infection (terbaik)</a:t>
            </a:r>
            <a:br/>
            <a:r>
              <a:t>Patch Only: 20.0% | Training Only: 13.3% | Semua pairwise signifikan (p &lt; 0.001)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Visualisasi 1: Time-Series Infeksi &amp; Vulnerability</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_timeseries.png"/>
          <p:cNvPicPr>
            <a:picLocks noChangeAspect="1"/>
          </p:cNvPicPr>
          <p:nvPr/>
        </p:nvPicPr>
        <p:blipFill>
          <a:blip r:embed="rId2"/>
          <a:stretch>
            <a:fillRect/>
          </a:stretch>
        </p:blipFill>
        <p:spPr>
          <a:xfrm>
            <a:off x="1371600" y="1097280"/>
            <a:ext cx="9144000" cy="3974687"/>
          </a:xfrm>
          <a:prstGeom prst="rect">
            <a:avLst/>
          </a:prstGeom>
        </p:spPr>
      </p:pic>
      <p:sp>
        <p:nvSpPr>
          <p:cNvPr id="6" name="TextBox 5"/>
          <p:cNvSpPr txBox="1"/>
          <p:nvPr/>
        </p:nvSpPr>
        <p:spPr>
          <a:xfrm>
            <a:off x="548640" y="5943600"/>
            <a:ext cx="10972800" cy="731520"/>
          </a:xfrm>
          <a:prstGeom prst="rect">
            <a:avLst/>
          </a:prstGeom>
          <a:noFill/>
        </p:spPr>
        <p:txBody>
          <a:bodyPr wrap="square">
            <a:spAutoFit/>
          </a:bodyPr>
          <a:lstStyle/>
          <a:p>
            <a:pPr algn="l">
              <a:defRPr sz="1300" b="0">
                <a:solidFill>
                  <a:srgbClr val="7F8C8D"/>
                </a:solidFill>
                <a:latin typeface="Calibri"/>
              </a:defRPr>
            </a:pPr>
            <a:r>
              <a:t>Figure 1: Rata-rata jumlah node terinfeksi (kiri) dan vulnerability (kanan) dari 30 Monte Carlo runs.</a:t>
            </a:r>
            <a:br/>
            <a:r>
              <a:t>Area transparan = +/- 1 standard deviation.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Visualisasi 2: Efektivitas Intervensi</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_effectiveness.png"/>
          <p:cNvPicPr>
            <a:picLocks noChangeAspect="1"/>
          </p:cNvPicPr>
          <p:nvPr/>
        </p:nvPicPr>
        <p:blipFill>
          <a:blip r:embed="rId2"/>
          <a:stretch>
            <a:fillRect/>
          </a:stretch>
        </p:blipFill>
        <p:spPr>
          <a:xfrm>
            <a:off x="1371600" y="1097280"/>
            <a:ext cx="9144000" cy="3974687"/>
          </a:xfrm>
          <a:prstGeom prst="rect">
            <a:avLst/>
          </a:prstGeom>
        </p:spPr>
      </p:pic>
      <p:sp>
        <p:nvSpPr>
          <p:cNvPr id="6" name="TextBox 5"/>
          <p:cNvSpPr txBox="1"/>
          <p:nvPr/>
        </p:nvSpPr>
        <p:spPr>
          <a:xfrm>
            <a:off x="548640" y="5943600"/>
            <a:ext cx="10972800" cy="731520"/>
          </a:xfrm>
          <a:prstGeom prst="rect">
            <a:avLst/>
          </a:prstGeom>
          <a:noFill/>
        </p:spPr>
        <p:txBody>
          <a:bodyPr wrap="square">
            <a:spAutoFit/>
          </a:bodyPr>
          <a:lstStyle/>
          <a:p>
            <a:pPr algn="l">
              <a:defRPr sz="1300" b="0">
                <a:solidFill>
                  <a:srgbClr val="7F8C8D"/>
                </a:solidFill>
                <a:latin typeface="Calibri"/>
              </a:defRPr>
            </a:pPr>
            <a:r>
              <a:t>Figure 2: Box plot distribusi puncak infeksi (kiri) dan bar chart reduksi vs baseline (kanan).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Visualisasi 3: Distribusi State Node</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3_state_distribution.png"/>
          <p:cNvPicPr>
            <a:picLocks noChangeAspect="1"/>
          </p:cNvPicPr>
          <p:nvPr/>
        </p:nvPicPr>
        <p:blipFill>
          <a:blip r:embed="rId2"/>
          <a:stretch>
            <a:fillRect/>
          </a:stretch>
        </p:blipFill>
        <p:spPr>
          <a:xfrm>
            <a:off x="1371600" y="1097280"/>
            <a:ext cx="9144000" cy="7067614"/>
          </a:xfrm>
          <a:prstGeom prst="rect">
            <a:avLst/>
          </a:prstGeom>
        </p:spPr>
      </p:pic>
      <p:sp>
        <p:nvSpPr>
          <p:cNvPr id="6" name="TextBox 5"/>
          <p:cNvSpPr txBox="1"/>
          <p:nvPr/>
        </p:nvSpPr>
        <p:spPr>
          <a:xfrm>
            <a:off x="548640" y="5943600"/>
            <a:ext cx="10972800" cy="731520"/>
          </a:xfrm>
          <a:prstGeom prst="rect">
            <a:avLst/>
          </a:prstGeom>
          <a:noFill/>
        </p:spPr>
        <p:txBody>
          <a:bodyPr wrap="square">
            <a:spAutoFit/>
          </a:bodyPr>
          <a:lstStyle/>
          <a:p>
            <a:pPr algn="l">
              <a:defRPr sz="1300" b="0">
                <a:solidFill>
                  <a:srgbClr val="7F8C8D"/>
                </a:solidFill>
                <a:latin typeface="Calibri"/>
              </a:defRPr>
            </a:pPr>
            <a:r>
              <a:t>Figure 3: Stacked area chart distribusi 4 state node per skenario (rata-rata 30 runs).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Visualisasi 4: Topologi Jaringan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network_snapshot.png"/>
          <p:cNvPicPr>
            <a:picLocks noChangeAspect="1"/>
          </p:cNvPicPr>
          <p:nvPr/>
        </p:nvPicPr>
        <p:blipFill>
          <a:blip r:embed="rId2"/>
          <a:stretch>
            <a:fillRect/>
          </a:stretch>
        </p:blipFill>
        <p:spPr>
          <a:xfrm>
            <a:off x="1828800" y="1097280"/>
            <a:ext cx="8229600" cy="2831566"/>
          </a:xfrm>
          <a:prstGeom prst="rect">
            <a:avLst/>
          </a:prstGeom>
        </p:spPr>
      </p:pic>
      <p:sp>
        <p:nvSpPr>
          <p:cNvPr id="6" name="TextBox 5"/>
          <p:cNvSpPr txBox="1"/>
          <p:nvPr/>
        </p:nvSpPr>
        <p:spPr>
          <a:xfrm>
            <a:off x="548640" y="5943600"/>
            <a:ext cx="10972800" cy="731520"/>
          </a:xfrm>
          <a:prstGeom prst="rect">
            <a:avLst/>
          </a:prstGeom>
          <a:noFill/>
        </p:spPr>
        <p:txBody>
          <a:bodyPr wrap="square">
            <a:spAutoFit/>
          </a:bodyPr>
          <a:lstStyle/>
          <a:p>
            <a:pPr algn="l">
              <a:defRPr sz="1300" b="0">
                <a:solidFill>
                  <a:srgbClr val="7F8C8D"/>
                </a:solidFill>
                <a:latin typeface="Calibri"/>
              </a:defRPr>
            </a:pPr>
            <a:r>
              <a:t>Figure 4: Snapshot topologi jaringan di 4 time steps. Warna node = state agent.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Visualisasi 5: Heatmap Korelasi &amp; Evolusi Kerentanan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5_heatmaps.png"/>
          <p:cNvPicPr>
            <a:picLocks noChangeAspect="1"/>
          </p:cNvPicPr>
          <p:nvPr/>
        </p:nvPicPr>
        <p:blipFill>
          <a:blip r:embed="rId2"/>
          <a:stretch>
            <a:fillRect/>
          </a:stretch>
        </p:blipFill>
        <p:spPr>
          <a:xfrm>
            <a:off x="1371600" y="1097280"/>
            <a:ext cx="9144000" cy="4400020"/>
          </a:xfrm>
          <a:prstGeom prst="rect">
            <a:avLst/>
          </a:prstGeom>
        </p:spPr>
      </p:pic>
      <p:sp>
        <p:nvSpPr>
          <p:cNvPr id="6" name="TextBox 5"/>
          <p:cNvSpPr txBox="1"/>
          <p:nvPr/>
        </p:nvSpPr>
        <p:spPr>
          <a:xfrm>
            <a:off x="548640" y="5943600"/>
            <a:ext cx="10972800" cy="731520"/>
          </a:xfrm>
          <a:prstGeom prst="rect">
            <a:avLst/>
          </a:prstGeom>
          <a:noFill/>
        </p:spPr>
        <p:txBody>
          <a:bodyPr wrap="square">
            <a:spAutoFit/>
          </a:bodyPr>
          <a:lstStyle/>
          <a:p>
            <a:pPr algn="l">
              <a:defRPr sz="1300" b="0">
                <a:solidFill>
                  <a:srgbClr val="7F8C8D"/>
                </a:solidFill>
                <a:latin typeface="Calibri"/>
              </a:defRPr>
            </a:pPr>
            <a:r>
              <a:t>Figure 5: (a) Matriks korelasi variabel simulasi. (b) Evolusi kerentanan per skenario.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Uji Statistik: Mann-Whitney U</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0972800" cy="457200"/>
          </a:xfrm>
          <a:prstGeom prst="rect">
            <a:avLst/>
          </a:prstGeom>
          <a:noFill/>
        </p:spPr>
        <p:txBody>
          <a:bodyPr wrap="square">
            <a:spAutoFit/>
          </a:bodyPr>
          <a:lstStyle/>
          <a:p>
            <a:pPr algn="l">
              <a:defRPr sz="1600" b="0">
                <a:solidFill>
                  <a:srgbClr val="2C3E50"/>
                </a:solidFill>
                <a:latin typeface="Calibri"/>
              </a:defRPr>
            </a:pPr>
            <a:r>
              <a:t>Semua pairwise comparison signifikan secara statistik:</a:t>
            </a:r>
          </a:p>
        </p:txBody>
      </p:sp>
      <p:graphicFrame>
        <p:nvGraphicFramePr>
          <p:cNvPr id="6" name="Table 5"/>
          <p:cNvGraphicFramePr>
            <a:graphicFrameLocks noGrp="1"/>
          </p:cNvGraphicFramePr>
          <p:nvPr/>
        </p:nvGraphicFramePr>
        <p:xfrm>
          <a:off x="1828800" y="1828800"/>
          <a:ext cx="8229600" cy="2286000"/>
        </p:xfrm>
        <a:graphic>
          <a:graphicData uri="http://schemas.openxmlformats.org/drawingml/2006/table">
            <a:tbl>
              <a:tblPr firstRow="1" bandRow="1">
                <a:tableStyleId>{5C22544A-7EE6-4342-B048-85BDC9FD1C3A}</a:tableStyleId>
              </a:tblPr>
              <a:tblGrid>
                <a:gridCol w="2057400"/>
                <a:gridCol w="2057400"/>
                <a:gridCol w="2057400"/>
                <a:gridCol w="2057400"/>
              </a:tblGrid>
              <a:tr h="571500">
                <a:tc>
                  <a:txBody>
                    <a:bodyPr/>
                    <a:lstStyle/>
                    <a:p>
                      <a:pPr algn="ctr">
                        <a:defRPr sz="1400" b="1">
                          <a:solidFill>
                            <a:srgbClr val="FFFFFF"/>
                          </a:solidFill>
                        </a:defRPr>
                      </a:pPr>
                      <a:r>
                        <a:t>Comparison</a:t>
                      </a:r>
                    </a:p>
                  </a:txBody>
                  <a:tcPr>
                    <a:solidFill>
                      <a:srgbClr val="1a233b"/>
                    </a:solidFill>
                  </a:tcPr>
                </a:tc>
                <a:tc>
                  <a:txBody>
                    <a:bodyPr/>
                    <a:lstStyle/>
                    <a:p>
                      <a:pPr algn="ctr">
                        <a:defRPr sz="1400" b="1">
                          <a:solidFill>
                            <a:srgbClr val="FFFFFF"/>
                          </a:solidFill>
                        </a:defRPr>
                      </a:pPr>
                      <a:r>
                        <a:t>U Statistic</a:t>
                      </a:r>
                    </a:p>
                  </a:txBody>
                  <a:tcPr>
                    <a:solidFill>
                      <a:srgbClr val="1a233b"/>
                    </a:solidFill>
                  </a:tcPr>
                </a:tc>
                <a:tc>
                  <a:txBody>
                    <a:bodyPr/>
                    <a:lstStyle/>
                    <a:p>
                      <a:pPr algn="ctr">
                        <a:defRPr sz="1400" b="1">
                          <a:solidFill>
                            <a:srgbClr val="FFFFFF"/>
                          </a:solidFill>
                        </a:defRPr>
                      </a:pPr>
                      <a:r>
                        <a:t>p-value</a:t>
                      </a:r>
                    </a:p>
                  </a:txBody>
                  <a:tcPr>
                    <a:solidFill>
                      <a:srgbClr val="1a233b"/>
                    </a:solidFill>
                  </a:tcPr>
                </a:tc>
                <a:tc>
                  <a:txBody>
                    <a:bodyPr/>
                    <a:lstStyle/>
                    <a:p>
                      <a:pPr algn="ctr">
                        <a:defRPr sz="1400" b="1">
                          <a:solidFill>
                            <a:srgbClr val="FFFFFF"/>
                          </a:solidFill>
                        </a:defRPr>
                      </a:pPr>
                      <a:r>
                        <a:t>Significant</a:t>
                      </a:r>
                    </a:p>
                  </a:txBody>
                  <a:tcPr>
                    <a:solidFill>
                      <a:srgbClr val="1a233b"/>
                    </a:solidFill>
                  </a:tcPr>
                </a:tc>
              </a:tr>
              <a:tr h="571500">
                <a:tc>
                  <a:txBody>
                    <a:bodyPr/>
                    <a:lstStyle/>
                    <a:p>
                      <a:pPr algn="ctr">
                        <a:defRPr sz="1300">
                          <a:solidFill>
                            <a:srgbClr val="2C3E50"/>
                          </a:solidFill>
                        </a:defRPr>
                      </a:pPr>
                      <a:r>
                        <a:t>Baseline vs Patch Only</a:t>
                      </a:r>
                    </a:p>
                  </a:txBody>
                  <a:tcPr/>
                </a:tc>
                <a:tc>
                  <a:txBody>
                    <a:bodyPr/>
                    <a:lstStyle/>
                    <a:p>
                      <a:pPr algn="ctr">
                        <a:defRPr sz="1300">
                          <a:solidFill>
                            <a:srgbClr val="2C3E50"/>
                          </a:solidFill>
                        </a:defRPr>
                      </a:pPr>
                      <a:r>
                        <a:t>1824.5</a:t>
                      </a:r>
                    </a:p>
                  </a:txBody>
                  <a:tcPr/>
                </a:tc>
                <a:tc>
                  <a:txBody>
                    <a:bodyPr/>
                    <a:lstStyle/>
                    <a:p>
                      <a:pPr algn="ctr">
                        <a:defRPr sz="1300">
                          <a:solidFill>
                            <a:srgbClr val="2C3E50"/>
                          </a:solidFill>
                        </a:defRPr>
                      </a:pPr>
                      <a:r>
                        <a:t>&lt; 0.001</a:t>
                      </a:r>
                    </a:p>
                  </a:txBody>
                  <a:tcPr/>
                </a:tc>
                <a:tc>
                  <a:txBody>
                    <a:bodyPr/>
                    <a:lstStyle/>
                    <a:p>
                      <a:pPr algn="ctr">
                        <a:defRPr sz="1300">
                          <a:solidFill>
                            <a:srgbClr val="2C3E50"/>
                          </a:solidFill>
                        </a:defRPr>
                      </a:pPr>
                      <a:r>
                        <a:t>***</a:t>
                      </a:r>
                    </a:p>
                  </a:txBody>
                  <a:tcPr/>
                </a:tc>
              </a:tr>
              <a:tr h="571500">
                <a:tc>
                  <a:txBody>
                    <a:bodyPr/>
                    <a:lstStyle/>
                    <a:p>
                      <a:pPr algn="ctr">
                        <a:defRPr sz="1300">
                          <a:solidFill>
                            <a:srgbClr val="2C3E50"/>
                          </a:solidFill>
                        </a:defRPr>
                      </a:pPr>
                      <a:r>
                        <a:t>Baseline vs Training Only</a:t>
                      </a:r>
                    </a:p>
                  </a:txBody>
                  <a:tcPr/>
                </a:tc>
                <a:tc>
                  <a:txBody>
                    <a:bodyPr/>
                    <a:lstStyle/>
                    <a:p>
                      <a:pPr algn="ctr">
                        <a:defRPr sz="1300">
                          <a:solidFill>
                            <a:srgbClr val="2C3E50"/>
                          </a:solidFill>
                        </a:defRPr>
                      </a:pPr>
                      <a:r>
                        <a:t>1692.0</a:t>
                      </a:r>
                    </a:p>
                  </a:txBody>
                  <a:tcPr/>
                </a:tc>
                <a:tc>
                  <a:txBody>
                    <a:bodyPr/>
                    <a:lstStyle/>
                    <a:p>
                      <a:pPr algn="ctr">
                        <a:defRPr sz="1300">
                          <a:solidFill>
                            <a:srgbClr val="2C3E50"/>
                          </a:solidFill>
                        </a:defRPr>
                      </a:pPr>
                      <a:r>
                        <a:t>&lt; 0.001</a:t>
                      </a:r>
                    </a:p>
                  </a:txBody>
                  <a:tcPr/>
                </a:tc>
                <a:tc>
                  <a:txBody>
                    <a:bodyPr/>
                    <a:lstStyle/>
                    <a:p>
                      <a:pPr algn="ctr">
                        <a:defRPr sz="1300">
                          <a:solidFill>
                            <a:srgbClr val="2C3E50"/>
                          </a:solidFill>
                        </a:defRPr>
                      </a:pPr>
                      <a:r>
                        <a:t>***</a:t>
                      </a:r>
                    </a:p>
                  </a:txBody>
                  <a:tcPr/>
                </a:tc>
              </a:tr>
              <a:tr h="571500">
                <a:tc>
                  <a:txBody>
                    <a:bodyPr/>
                    <a:lstStyle/>
                    <a:p>
                      <a:pPr algn="ctr">
                        <a:defRPr sz="1300">
                          <a:solidFill>
                            <a:srgbClr val="2C3E50"/>
                          </a:solidFill>
                        </a:defRPr>
                      </a:pPr>
                      <a:r>
                        <a:t>Baseline vs Combined</a:t>
                      </a:r>
                    </a:p>
                  </a:txBody>
                  <a:tcPr/>
                </a:tc>
                <a:tc>
                  <a:txBody>
                    <a:bodyPr/>
                    <a:lstStyle/>
                    <a:p>
                      <a:pPr algn="ctr">
                        <a:defRPr sz="1300">
                          <a:solidFill>
                            <a:srgbClr val="2C3E50"/>
                          </a:solidFill>
                        </a:defRPr>
                      </a:pPr>
                      <a:r>
                        <a:t>2016.0</a:t>
                      </a:r>
                    </a:p>
                  </a:txBody>
                  <a:tcPr/>
                </a:tc>
                <a:tc>
                  <a:txBody>
                    <a:bodyPr/>
                    <a:lstStyle/>
                    <a:p>
                      <a:pPr algn="ctr">
                        <a:defRPr sz="1300">
                          <a:solidFill>
                            <a:srgbClr val="2C3E50"/>
                          </a:solidFill>
                        </a:defRPr>
                      </a:pPr>
                      <a:r>
                        <a:t>&lt; 0.001</a:t>
                      </a:r>
                    </a:p>
                  </a:txBody>
                  <a:tcPr/>
                </a:tc>
                <a:tc>
                  <a:txBody>
                    <a:bodyPr/>
                    <a:lstStyle/>
                    <a:p>
                      <a:pPr algn="ctr">
                        <a:defRPr sz="1300">
                          <a:solidFill>
                            <a:srgbClr val="2C3E50"/>
                          </a:solidFill>
                        </a:defRPr>
                      </a:pPr>
                      <a:r>
                        <a:t>***</a:t>
                      </a:r>
                    </a:p>
                  </a:txBody>
                  <a:tcPr/>
                </a:tc>
              </a:tr>
            </a:tbl>
          </a:graphicData>
        </a:graphic>
      </p:graphicFrame>
      <p:sp>
        <p:nvSpPr>
          <p:cNvPr id="7" name="TextBox 6"/>
          <p:cNvSpPr txBox="1"/>
          <p:nvPr/>
        </p:nvSpPr>
        <p:spPr>
          <a:xfrm>
            <a:off x="548640" y="4754880"/>
            <a:ext cx="10972800" cy="1828800"/>
          </a:xfrm>
          <a:prstGeom prst="rect">
            <a:avLst/>
          </a:prstGeom>
          <a:noFill/>
        </p:spPr>
        <p:txBody>
          <a:bodyPr wrap="square">
            <a:spAutoFit/>
          </a:bodyPr>
          <a:lstStyle/>
          <a:p>
            <a:pPr algn="l">
              <a:defRPr sz="1400" b="0">
                <a:solidFill>
                  <a:srgbClr val="7F8C8D"/>
                </a:solidFill>
                <a:latin typeface="Calibri"/>
              </a:defRPr>
            </a:pPr>
            <a:r>
              <a:t>Metode: Mann-Whitney U Test (non-parametrik)</a:t>
            </a:r>
            <a:br/>
            <a:r>
              <a:t>Uji dilakukan pada distribusi puncak infeksi dari 30 runs per skenario</a:t>
            </a:r>
            <a:br/>
            <a:r>
              <a:t>Hasil: Semua intervensi signifikan mengurangi infeksi vs baseline (p &lt; 0.001)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914400"/>
          </a:xfrm>
          <a:prstGeom prst="rect">
            <a:avLst/>
          </a:prstGeom>
          <a:noFill/>
        </p:spPr>
        <p:txBody>
          <a:bodyPr wrap="square">
            <a:spAutoFit/>
          </a:bodyPr>
          <a:lstStyle/>
          <a:p>
            <a:pPr algn="ctr">
              <a:defRPr sz="3200" b="1">
                <a:solidFill>
                  <a:srgbClr val="FFFFFF"/>
                </a:solidFill>
                <a:latin typeface="Calibri"/>
              </a:defRPr>
            </a:pPr>
            <a:r>
              <a:t>Dashboard Streamlit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Cara Kerja Dashboard</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5303520" cy="365760"/>
          </a:xfrm>
          <a:prstGeom prst="rect">
            <a:avLst/>
          </a:prstGeom>
          <a:noFill/>
        </p:spPr>
        <p:txBody>
          <a:bodyPr wrap="square">
            <a:spAutoFit/>
          </a:bodyPr>
          <a:lstStyle/>
          <a:p>
            <a:pPr algn="l">
              <a:defRPr sz="1800" b="1">
                <a:solidFill>
                  <a:srgbClr val="2C3E6B"/>
                </a:solidFill>
                <a:latin typeface="Calibri"/>
              </a:defRPr>
            </a:pPr>
            <a:r>
              <a:t>Alur Kerja</a:t>
            </a:r>
          </a:p>
        </p:txBody>
      </p:sp>
      <p:sp>
        <p:nvSpPr>
          <p:cNvPr id="6" name="TextBox 5"/>
          <p:cNvSpPr txBox="1"/>
          <p:nvPr/>
        </p:nvSpPr>
        <p:spPr>
          <a:xfrm>
            <a:off x="54864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User mengatur parameter di sidebar</a:t>
            </a:r>
          </a:p>
          <a:p>
            <a:pPr>
              <a:spcAft>
                <a:spcPts val="600"/>
              </a:spcAft>
              <a:defRPr sz="1500">
                <a:solidFill>
                  <a:srgbClr val="2C3E50"/>
                </a:solidFill>
                <a:latin typeface="Calibri"/>
              </a:defRPr>
            </a:pPr>
            <a:r>
              <a:t>Sidebar: JARINGAN, DINAMIKA, INTERVENSI, EKSEKUSI</a:t>
            </a:r>
          </a:p>
          <a:p>
            <a:pPr>
              <a:spcAft>
                <a:spcPts val="600"/>
              </a:spcAft>
              <a:defRPr sz="1500">
                <a:solidFill>
                  <a:srgbClr val="2C3E50"/>
                </a:solidFill>
                <a:latin typeface="Calibri"/>
              </a:defRPr>
            </a:pPr>
            <a:r>
              <a:t>Tombol "Jalankan Simulasi" memicu streamlit rerun</a:t>
            </a:r>
          </a:p>
          <a:p>
            <a:pPr>
              <a:spcAft>
                <a:spcPts val="600"/>
              </a:spcAft>
              <a:defRPr sz="1500">
                <a:solidFill>
                  <a:srgbClr val="2C3E50"/>
                </a:solidFill>
                <a:latin typeface="Calibri"/>
              </a:defRPr>
            </a:pPr>
            <a:r>
              <a:t>Dashboard menjalankan 4 skenario sekaligus</a:t>
            </a:r>
          </a:p>
          <a:p>
            <a:pPr>
              <a:spcAft>
                <a:spcPts val="600"/>
              </a:spcAft>
              <a:defRPr sz="1500">
                <a:solidFill>
                  <a:srgbClr val="2C3E50"/>
                </a:solidFill>
                <a:latin typeface="Calibri"/>
              </a:defRPr>
            </a:pPr>
            <a:r>
              <a:t>Hasil ditampilkan di 5 tab visualisasi</a:t>
            </a:r>
          </a:p>
        </p:txBody>
      </p:sp>
      <p:sp>
        <p:nvSpPr>
          <p:cNvPr id="7" name="TextBox 6"/>
          <p:cNvSpPr txBox="1"/>
          <p:nvPr/>
        </p:nvSpPr>
        <p:spPr>
          <a:xfrm>
            <a:off x="6217920" y="1188720"/>
            <a:ext cx="5303520" cy="365760"/>
          </a:xfrm>
          <a:prstGeom prst="rect">
            <a:avLst/>
          </a:prstGeom>
          <a:noFill/>
        </p:spPr>
        <p:txBody>
          <a:bodyPr wrap="square">
            <a:spAutoFit/>
          </a:bodyPr>
          <a:lstStyle/>
          <a:p>
            <a:pPr algn="l">
              <a:defRPr sz="1800" b="1">
                <a:solidFill>
                  <a:srgbClr val="2C3E6B"/>
                </a:solidFill>
                <a:latin typeface="Calibri"/>
              </a:defRPr>
            </a:pPr>
            <a:r>
              <a:t>Teknis</a:t>
            </a:r>
          </a:p>
        </p:txBody>
      </p:sp>
      <p:sp>
        <p:nvSpPr>
          <p:cNvPr id="8" name="TextBox 7"/>
          <p:cNvSpPr txBox="1"/>
          <p:nvPr/>
        </p:nvSpPr>
        <p:spPr>
          <a:xfrm>
            <a:off x="621792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Framework: Streamlit (Python)</a:t>
            </a:r>
          </a:p>
          <a:p>
            <a:pPr>
              <a:spcAft>
                <a:spcPts val="600"/>
              </a:spcAft>
              <a:defRPr sz="1500">
                <a:solidFill>
                  <a:srgbClr val="2C3E50"/>
                </a:solidFill>
                <a:latin typeface="Calibri"/>
              </a:defRPr>
            </a:pPr>
            <a:r>
              <a:t>Backend: Mesa ABM + NetworkX</a:t>
            </a:r>
          </a:p>
          <a:p>
            <a:pPr>
              <a:spcAft>
                <a:spcPts val="600"/>
              </a:spcAft>
              <a:defRPr sz="1500">
                <a:solidFill>
                  <a:srgbClr val="2C3E50"/>
                </a:solidFill>
                <a:latin typeface="Calibri"/>
              </a:defRPr>
            </a:pPr>
            <a:r>
              <a:t>Visualisasi: Matplotlib + Seaborn</a:t>
            </a:r>
          </a:p>
          <a:p>
            <a:pPr>
              <a:spcAft>
                <a:spcPts val="600"/>
              </a:spcAft>
              <a:defRPr sz="1500">
                <a:solidFill>
                  <a:srgbClr val="2C3E50"/>
                </a:solidFill>
                <a:latin typeface="Calibri"/>
              </a:defRPr>
            </a:pPr>
            <a:r>
              <a:t>Data disimpan di session state (st.session_state)</a:t>
            </a:r>
          </a:p>
          <a:p>
            <a:pPr>
              <a:spcAft>
                <a:spcPts val="600"/>
              </a:spcAft>
              <a:defRPr sz="1500">
                <a:solidFill>
                  <a:srgbClr val="2C3E50"/>
                </a:solidFill>
                <a:latin typeface="Calibri"/>
              </a:defRPr>
            </a:pPr>
            <a:r>
              <a:t>Export CSV untuk analisis lanjutan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Fitur Dashboard</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5303520" cy="365760"/>
          </a:xfrm>
          <a:prstGeom prst="rect">
            <a:avLst/>
          </a:prstGeom>
          <a:noFill/>
        </p:spPr>
        <p:txBody>
          <a:bodyPr wrap="square">
            <a:spAutoFit/>
          </a:bodyPr>
          <a:lstStyle/>
          <a:p>
            <a:pPr algn="l">
              <a:defRPr sz="1800" b="1">
                <a:solidFill>
                  <a:srgbClr val="2C3E6B"/>
                </a:solidFill>
                <a:latin typeface="Calibri"/>
              </a:defRPr>
            </a:pPr>
            <a:r>
              <a:t>Sidebar Configuration</a:t>
            </a:r>
          </a:p>
        </p:txBody>
      </p:sp>
      <p:sp>
        <p:nvSpPr>
          <p:cNvPr id="6" name="TextBox 5"/>
          <p:cNvSpPr txBox="1"/>
          <p:nvPr/>
        </p:nvSpPr>
        <p:spPr>
          <a:xfrm>
            <a:off x="54864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JARINGAN: N_AGENTS, EDGE_PROB, initial infections</a:t>
            </a:r>
          </a:p>
          <a:p>
            <a:pPr>
              <a:spcAft>
                <a:spcPts val="600"/>
              </a:spcAft>
              <a:defRPr sz="1500">
                <a:solidFill>
                  <a:srgbClr val="2C3E50"/>
                </a:solidFill>
                <a:latin typeface="Calibri"/>
              </a:defRPr>
            </a:pPr>
            <a:r>
              <a:t>DINAMIKA: BETA, GAMMA, EPSILON</a:t>
            </a:r>
          </a:p>
          <a:p>
            <a:pPr>
              <a:spcAft>
                <a:spcPts val="600"/>
              </a:spcAft>
              <a:defRPr sz="1500">
                <a:solidFill>
                  <a:srgbClr val="2C3E50"/>
                </a:solidFill>
                <a:latin typeface="Calibri"/>
              </a:defRPr>
            </a:pPr>
            <a:r>
              <a:t>INTERVENSI: ALPHA (patch), TAU (training)</a:t>
            </a:r>
          </a:p>
          <a:p>
            <a:pPr>
              <a:spcAft>
                <a:spcPts val="600"/>
              </a:spcAft>
              <a:defRPr sz="1500">
                <a:solidFill>
                  <a:srgbClr val="2C3E50"/>
                </a:solidFill>
                <a:latin typeface="Calibri"/>
              </a:defRPr>
            </a:pPr>
            <a:r>
              <a:t>EKSEKUSI: N_STEPS, N_RUNS, random seed</a:t>
            </a:r>
          </a:p>
          <a:p>
            <a:pPr>
              <a:spcAft>
                <a:spcPts val="600"/>
              </a:spcAft>
              <a:defRPr sz="1500">
                <a:solidFill>
                  <a:srgbClr val="2C3E50"/>
                </a:solidFill>
                <a:latin typeface="Calibri"/>
              </a:defRPr>
            </a:pPr>
            <a:r>
              <a:t>Tombol "Jalankan Simulasi"</a:t>
            </a:r>
          </a:p>
        </p:txBody>
      </p:sp>
      <p:sp>
        <p:nvSpPr>
          <p:cNvPr id="7" name="TextBox 6"/>
          <p:cNvSpPr txBox="1"/>
          <p:nvPr/>
        </p:nvSpPr>
        <p:spPr>
          <a:xfrm>
            <a:off x="6217920" y="1188720"/>
            <a:ext cx="5303520" cy="365760"/>
          </a:xfrm>
          <a:prstGeom prst="rect">
            <a:avLst/>
          </a:prstGeom>
          <a:noFill/>
        </p:spPr>
        <p:txBody>
          <a:bodyPr wrap="square">
            <a:spAutoFit/>
          </a:bodyPr>
          <a:lstStyle/>
          <a:p>
            <a:pPr algn="l">
              <a:defRPr sz="1800" b="1">
                <a:solidFill>
                  <a:srgbClr val="2C3E6B"/>
                </a:solidFill>
                <a:latin typeface="Calibri"/>
              </a:defRPr>
            </a:pPr>
            <a:r>
              <a:t>5 Tab Visualisasi</a:t>
            </a:r>
          </a:p>
        </p:txBody>
      </p:sp>
      <p:sp>
        <p:nvSpPr>
          <p:cNvPr id="8" name="TextBox 7"/>
          <p:cNvSpPr txBox="1"/>
          <p:nvPr/>
        </p:nvSpPr>
        <p:spPr>
          <a:xfrm>
            <a:off x="6217920" y="1645920"/>
            <a:ext cx="5303520" cy="4572000"/>
          </a:xfrm>
          <a:prstGeom prst="rect">
            <a:avLst/>
          </a:prstGeom>
          <a:noFill/>
        </p:spPr>
        <p:txBody>
          <a:bodyPr wrap="square">
            <a:spAutoFit/>
          </a:bodyPr>
          <a:lstStyle/>
          <a:p>
            <a:pPr>
              <a:spcAft>
                <a:spcPts val="600"/>
              </a:spcAft>
              <a:defRPr sz="1500">
                <a:solidFill>
                  <a:srgbClr val="2C3E50"/>
                </a:solidFill>
                <a:latin typeface="Calibri"/>
              </a:defRPr>
            </a:pPr>
            <a:r>
              <a:t>1. Time-Series: Infeksi &amp; vulnerability over time</a:t>
            </a:r>
          </a:p>
          <a:p>
            <a:pPr>
              <a:spcAft>
                <a:spcPts val="600"/>
              </a:spcAft>
              <a:defRPr sz="1500">
                <a:solidFill>
                  <a:srgbClr val="2C3E50"/>
                </a:solidFill>
                <a:latin typeface="Calibri"/>
              </a:defRPr>
            </a:pPr>
            <a:r>
              <a:t>2. Distribusi: Histogram puncak infeksi</a:t>
            </a:r>
          </a:p>
          <a:p>
            <a:pPr>
              <a:spcAft>
                <a:spcPts val="600"/>
              </a:spcAft>
              <a:defRPr sz="1500">
                <a:solidFill>
                  <a:srgbClr val="2C3E50"/>
                </a:solidFill>
                <a:latin typeface="Calibri"/>
              </a:defRPr>
            </a:pPr>
            <a:r>
              <a:t>3. Topologi Jaringan: Network snapshot 4 time points</a:t>
            </a:r>
          </a:p>
          <a:p>
            <a:pPr>
              <a:spcAft>
                <a:spcPts val="600"/>
              </a:spcAft>
              <a:defRPr sz="1500">
                <a:solidFill>
                  <a:srgbClr val="2C3E50"/>
                </a:solidFill>
                <a:latin typeface="Calibri"/>
              </a:defRPr>
            </a:pPr>
            <a:r>
              <a:t>4. Heatmap: Evolusi kerentanan per run</a:t>
            </a:r>
          </a:p>
          <a:p>
            <a:pPr>
              <a:spcAft>
                <a:spcPts val="600"/>
              </a:spcAft>
              <a:defRPr sz="1500">
                <a:solidFill>
                  <a:srgbClr val="2C3E50"/>
                </a:solidFill>
                <a:latin typeface="Calibri"/>
              </a:defRPr>
            </a:pPr>
            <a:r>
              <a:t>5. Data Raw: Tabel data + download 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Kode Dashboard: Main Structure</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11430000" cy="5486400"/>
          </a:xfrm>
          <a:prstGeom prst="rect">
            <a:avLst/>
          </a:prstGeom>
          <a:solidFill>
            <a:srgbClr val="282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10881360" cy="5120640"/>
          </a:xfrm>
          <a:prstGeom prst="rect">
            <a:avLst/>
          </a:prstGeom>
          <a:noFill/>
        </p:spPr>
        <p:txBody>
          <a:bodyPr wrap="square">
            <a:spAutoFit/>
          </a:bodyPr>
          <a:lstStyle/>
          <a:p>
            <a:pPr>
              <a:spcAft>
                <a:spcPts val="200"/>
              </a:spcAft>
              <a:defRPr sz="1100">
                <a:solidFill>
                  <a:srgbClr val="98C379"/>
                </a:solidFill>
                <a:latin typeface="Consolas"/>
              </a:defRPr>
            </a:pPr>
            <a:r>
              <a:t># streamlit_dashboard.py - Struktur utama</a:t>
            </a:r>
          </a:p>
          <a:p>
            <a:pPr>
              <a:spcAft>
                <a:spcPts val="200"/>
              </a:spcAft>
              <a:defRPr sz="1100">
                <a:solidFill>
                  <a:srgbClr val="98C379"/>
                </a:solidFill>
                <a:latin typeface="Consolas"/>
              </a:defRPr>
            </a:pPr>
            <a:r>
              <a:t>import streamlit as st</a:t>
            </a:r>
          </a:p>
          <a:p>
            <a:pPr>
              <a:spcAft>
                <a:spcPts val="200"/>
              </a:spcAft>
              <a:defRPr sz="1100">
                <a:solidFill>
                  <a:srgbClr val="98C379"/>
                </a:solidFill>
                <a:latin typeface="Consolas"/>
              </a:defRPr>
            </a:pPr>
            <a:r>
              <a:t>from mesa import Agent, Model</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SIDEBAR ----</a:t>
            </a:r>
          </a:p>
          <a:p>
            <a:pPr>
              <a:spcAft>
                <a:spcPts val="200"/>
              </a:spcAft>
              <a:defRPr sz="1100">
                <a:solidFill>
                  <a:srgbClr val="98C379"/>
                </a:solidFill>
                <a:latin typeface="Consolas"/>
              </a:defRPr>
            </a:pPr>
            <a:r>
              <a:t>with st.sidebar:</a:t>
            </a:r>
          </a:p>
          <a:p>
            <a:pPr>
              <a:spcAft>
                <a:spcPts val="200"/>
              </a:spcAft>
              <a:defRPr sz="1100">
                <a:solidFill>
                  <a:srgbClr val="98C379"/>
                </a:solidFill>
                <a:latin typeface="Consolas"/>
              </a:defRPr>
            </a:pPr>
            <a:r>
              <a:t>    N_AGENTS = st.number_input("Jumlah Node", 10, 200, 50)</a:t>
            </a:r>
          </a:p>
          <a:p>
            <a:pPr>
              <a:spcAft>
                <a:spcPts val="200"/>
              </a:spcAft>
              <a:defRPr sz="1100">
                <a:solidFill>
                  <a:srgbClr val="98C379"/>
                </a:solidFill>
                <a:latin typeface="Consolas"/>
              </a:defRPr>
            </a:pPr>
            <a:r>
              <a:t>    BETA     = st.slider("Infection Rate", 0.0, 1.0, 0.30)</a:t>
            </a:r>
          </a:p>
          <a:p>
            <a:pPr>
              <a:spcAft>
                <a:spcPts val="200"/>
              </a:spcAft>
              <a:defRPr sz="1100">
                <a:solidFill>
                  <a:srgbClr val="98C379"/>
                </a:solidFill>
                <a:latin typeface="Consolas"/>
              </a:defRPr>
            </a:pPr>
            <a:r>
              <a:t>    ALPHA    = st.slider("Patch Effectiveness", 0.0, 1.0, 0.60)</a:t>
            </a:r>
          </a:p>
          <a:p>
            <a:pPr>
              <a:spcAft>
                <a:spcPts val="200"/>
              </a:spcAft>
              <a:defRPr sz="1100">
                <a:solidFill>
                  <a:srgbClr val="98C379"/>
                </a:solidFill>
                <a:latin typeface="Consolas"/>
              </a:defRPr>
            </a:pPr>
            <a:r>
              <a:t>    if st.button("Jalankan Simulasi"):</a:t>
            </a:r>
          </a:p>
          <a:p>
            <a:pPr>
              <a:spcAft>
                <a:spcPts val="200"/>
              </a:spcAft>
              <a:defRPr sz="1100">
                <a:solidFill>
                  <a:srgbClr val="98C379"/>
                </a:solidFill>
                <a:latin typeface="Consolas"/>
              </a:defRPr>
            </a:pPr>
            <a:r>
              <a:t>        # Run all 4 scenarios</a:t>
            </a:r>
          </a:p>
          <a:p>
            <a:pPr>
              <a:spcAft>
                <a:spcPts val="200"/>
              </a:spcAft>
              <a:defRPr sz="1100">
                <a:solidFill>
                  <a:srgbClr val="98C379"/>
                </a:solidFill>
                <a:latin typeface="Consolas"/>
              </a:defRPr>
            </a:pPr>
            <a:r>
              <a:t>        results = {}</a:t>
            </a:r>
          </a:p>
          <a:p>
            <a:pPr>
              <a:spcAft>
                <a:spcPts val="200"/>
              </a:spcAft>
              <a:defRPr sz="1100">
                <a:solidFill>
                  <a:srgbClr val="98C379"/>
                </a:solidFill>
                <a:latin typeface="Consolas"/>
              </a:defRPr>
            </a:pPr>
            <a:r>
              <a:t>        for skenario, kwargs in skenario_list:</a:t>
            </a:r>
          </a:p>
          <a:p>
            <a:pPr>
              <a:spcAft>
                <a:spcPts val="200"/>
              </a:spcAft>
              <a:defRPr sz="1100">
                <a:solidFill>
                  <a:srgbClr val="98C379"/>
                </a:solidFill>
                <a:latin typeface="Consolas"/>
              </a:defRPr>
            </a:pPr>
            <a:r>
              <a:t>            df = run_scenario(**kwargs)</a:t>
            </a:r>
          </a:p>
          <a:p>
            <a:pPr>
              <a:spcAft>
                <a:spcPts val="200"/>
              </a:spcAft>
              <a:defRPr sz="1100">
                <a:solidFill>
                  <a:srgbClr val="98C379"/>
                </a:solidFill>
                <a:latin typeface="Consolas"/>
              </a:defRPr>
            </a:pPr>
            <a:r>
              <a:t>            results[skenario] = df</a:t>
            </a:r>
          </a:p>
          <a:p>
            <a:pPr>
              <a:spcAft>
                <a:spcPts val="200"/>
              </a:spcAft>
              <a:defRPr sz="1100">
                <a:solidFill>
                  <a:srgbClr val="98C379"/>
                </a:solidFill>
                <a:latin typeface="Consolas"/>
              </a:defRPr>
            </a:pPr>
            <a:r>
              <a:t>        st.session_state.results = results</a:t>
            </a:r>
          </a:p>
          <a:p>
            <a:pPr>
              <a:spcAft>
                <a:spcPts val="200"/>
              </a:spcAft>
              <a:defRPr sz="1100">
                <a:solidFill>
                  <a:srgbClr val="98C379"/>
                </a:solidFill>
                <a:latin typeface="Consolas"/>
              </a:defRPr>
            </a:pPr>
          </a:p>
          <a:p>
            <a:pPr>
              <a:spcAft>
                <a:spcPts val="200"/>
              </a:spcAft>
              <a:defRPr sz="1100">
                <a:solidFill>
                  <a:srgbClr val="98C379"/>
                </a:solidFill>
                <a:latin typeface="Consolas"/>
              </a:defRPr>
            </a:pPr>
            <a:r>
              <a:t># ---- MAIN PANEL ----</a:t>
            </a:r>
          </a:p>
          <a:p>
            <a:pPr>
              <a:spcAft>
                <a:spcPts val="200"/>
              </a:spcAft>
              <a:defRPr sz="1100">
                <a:solidFill>
                  <a:srgbClr val="98C379"/>
                </a:solidFill>
                <a:latin typeface="Consolas"/>
              </a:defRPr>
            </a:pPr>
            <a:r>
              <a:t>tab1, tab2, tab3, tab4, tab5 = st.tabs([...])</a:t>
            </a:r>
          </a:p>
          <a:p>
            <a:pPr>
              <a:spcAft>
                <a:spcPts val="200"/>
              </a:spcAft>
              <a:defRPr sz="1100">
                <a:solidFill>
                  <a:srgbClr val="98C379"/>
                </a:solidFill>
                <a:latin typeface="Consolas"/>
              </a:defRPr>
            </a:pPr>
            <a:r>
              <a:t>with tab1:</a:t>
            </a:r>
          </a:p>
          <a:p>
            <a:pPr>
              <a:spcAft>
                <a:spcPts val="200"/>
              </a:spcAft>
              <a:defRPr sz="1100">
                <a:solidFill>
                  <a:srgbClr val="98C379"/>
                </a:solidFill>
                <a:latin typeface="Consolas"/>
              </a:defRPr>
            </a:pPr>
            <a:r>
              <a:t>    st.pyplot(fig_timeseries)  # Matplotlib figure</a:t>
            </a:r>
          </a:p>
          <a:p>
            <a:pPr>
              <a:spcAft>
                <a:spcPts val="200"/>
              </a:spcAft>
              <a:defRPr sz="1100">
                <a:solidFill>
                  <a:srgbClr val="98C379"/>
                </a:solidFill>
                <a:latin typeface="Consolas"/>
              </a:defRPr>
            </a:pPr>
            <a:r>
              <a:t>with tab2:</a:t>
            </a:r>
          </a:p>
          <a:p>
            <a:pPr>
              <a:spcAft>
                <a:spcPts val="200"/>
              </a:spcAft>
              <a:defRPr sz="1100">
                <a:solidFill>
                  <a:srgbClr val="98C379"/>
                </a:solidFill>
                <a:latin typeface="Consolas"/>
              </a:defRPr>
            </a:pPr>
            <a:r>
              <a:t>    st.pyplot(fig_distribution)</a:t>
            </a:r>
          </a:p>
          <a:p>
            <a:pPr>
              <a:spcAft>
                <a:spcPts val="200"/>
              </a:spcAft>
              <a:defRPr sz="1100">
                <a:solidFill>
                  <a:srgbClr val="98C379"/>
                </a:solidFill>
                <a:latin typeface="Consolas"/>
              </a:defRPr>
            </a:pPr>
            <a:r>
              <a:t>with tab5:</a:t>
            </a:r>
          </a:p>
          <a:p>
            <a:pPr>
              <a:spcAft>
                <a:spcPts val="200"/>
              </a:spcAft>
              <a:defRPr sz="1100">
                <a:solidFill>
                  <a:srgbClr val="98C379"/>
                </a:solidFill>
                <a:latin typeface="Consolas"/>
              </a:defRPr>
            </a:pPr>
            <a:r>
              <a:t>    st.dataframe(df)           # Raw data table</a:t>
            </a:r>
          </a:p>
          <a:p>
            <a:pPr>
              <a:spcAft>
                <a:spcPts val="200"/>
              </a:spcAft>
              <a:defRPr sz="1100">
                <a:solidFill>
                  <a:srgbClr val="98C379"/>
                </a:solidFill>
                <a:latin typeface="Consolas"/>
              </a:defRPr>
            </a:pPr>
            <a:r>
              <a:t>    st.download_button("Download CSV", data_csv)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A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2400" b="1">
                <a:solidFill>
                  <a:srgbClr val="FFFFFF"/>
                </a:solidFill>
                <a:latin typeface="Calibri"/>
              </a:defRPr>
            </a:pPr>
            <a:r>
              <a:t>Kesimpulan</a:t>
            </a:r>
          </a:p>
        </p:txBody>
      </p:sp>
      <p:sp>
        <p:nvSpPr>
          <p:cNvPr id="4" name="Rectangle 3"/>
          <p:cNvSpPr/>
          <p:nvPr/>
        </p:nvSpPr>
        <p:spPr>
          <a:xfrm>
            <a:off x="0" y="822960"/>
            <a:ext cx="12191695" cy="36576"/>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0972800" cy="5029200"/>
          </a:xfrm>
          <a:prstGeom prst="rect">
            <a:avLst/>
          </a:prstGeom>
          <a:noFill/>
        </p:spPr>
        <p:txBody>
          <a:bodyPr wrap="square">
            <a:spAutoFit/>
          </a:bodyPr>
          <a:lstStyle/>
          <a:p>
            <a:pPr algn="l">
              <a:defRPr sz="1600" b="0">
                <a:solidFill>
                  <a:srgbClr val="2C3E50"/>
                </a:solidFill>
                <a:latin typeface="Calibri"/>
              </a:defRPr>
            </a:pPr>
            <a:r>
              <a:t>Penelitian ini berhasil mengembangkan model simulasi berbasis agen (Agent-Based Modeling) untuk menganalisis propagasi ancaman siber pada jaringan server lokal dengan dua strategi intervensi utama, yaitu patch management dan user training. Melalui simulasi Monte Carlo sebanyak 30 kali ulangan pada masing-masing dari empat skenario yang diuji, diperoleh hasil bahwa intervensi patch management mampu mereduksi puncak infeksi sebesar 20.0%, intervensi user training mereduksi sebesar 13.3%, dan kombinasi keduanya memberikan reduksi paling signifikan yaitu 33.3% dibandingkan dengan skenario baseline tanpa intervensi. Seluruh perbedaan antar skenario terkonfirmasi signifikan secara statistik melalui uji Mann-Whitney U dengan nilai p &lt; 0.001. Temuan ini membuktikan bahwa strategi keamanan berlapis (layered defense) yang menggabungkan intervensi teknis dan human-centered memberikan perlindungan yang jauh lebih efektif dibandingkan menerapkan salah satu intervensi secara terpisah. Selain itu, dashboard interaktif berbasis Streamlit yang dikembangkan memungkinkan eksplorasi parameter secara real-time dan visualisasi hasil yang komprehensif, sehingga dapat menjadi alat bantu pengambilan keputusan dalam alokasi sumber daya keamanan siber di lingkungan organisasi.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233B"/>
        </a:solidFill>
        <a:effectLst/>
      </p:bgPr>
    </p:bg>
    <p:spTree>
      <p:nvGrpSpPr>
        <p:cNvPr id="1" name=""/>
        <p:cNvGrpSpPr/>
        <p:nvPr/>
      </p:nvGrpSpPr>
      <p:grpSpPr/>
      <p:sp>
        <p:nvSpPr>
          <p:cNvPr id="2" name="Rectangle 1"/>
          <p:cNvSpPr/>
          <p:nvPr/>
        </p:nvSpPr>
        <p:spPr>
          <a:xfrm>
            <a:off x="0" y="3200400"/>
            <a:ext cx="12191695" cy="54864"/>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914400"/>
          </a:xfrm>
          <a:prstGeom prst="rect">
            <a:avLst/>
          </a:prstGeom>
          <a:noFill/>
        </p:spPr>
        <p:txBody>
          <a:bodyPr wrap="square">
            <a:spAutoFit/>
          </a:bodyPr>
          <a:lstStyle/>
          <a:p>
            <a:pPr algn="ctr">
              <a:defRPr sz="4000" b="1">
                <a:solidFill>
                  <a:srgbClr val="FFFFFF"/>
                </a:solidFill>
                <a:latin typeface="Calibri"/>
              </a:defRPr>
            </a:pPr>
            <a:r>
              <a:t>Terima Kasih</a:t>
            </a:r>
          </a:p>
        </p:txBody>
      </p:sp>
      <p:sp>
        <p:nvSpPr>
          <p:cNvPr id="4" name="TextBox 3"/>
          <p:cNvSpPr txBox="1"/>
          <p:nvPr/>
        </p:nvSpPr>
        <p:spPr>
          <a:xfrm>
            <a:off x="914400" y="3474720"/>
            <a:ext cx="10058400" cy="914400"/>
          </a:xfrm>
          <a:prstGeom prst="rect">
            <a:avLst/>
          </a:prstGeom>
          <a:noFill/>
        </p:spPr>
        <p:txBody>
          <a:bodyPr wrap="square">
            <a:spAutoFit/>
          </a:bodyPr>
          <a:lstStyle/>
          <a:p>
            <a:pPr algn="ctr">
              <a:defRPr sz="2800" b="0">
                <a:solidFill>
                  <a:srgbClr val="BDC3C7"/>
                </a:solidFill>
                <a:latin typeface="Calibri"/>
              </a:defRPr>
            </a:pPr>
            <a:r>
              <a:t>Q &amp; A</a:t>
            </a:r>
          </a:p>
        </p:txBody>
      </p:sp>
      <p:sp>
        <p:nvSpPr>
          <p:cNvPr id="5" name="TextBox 4"/>
          <p:cNvSpPr txBox="1"/>
          <p:nvPr/>
        </p:nvSpPr>
        <p:spPr>
          <a:xfrm>
            <a:off x="914400" y="4572000"/>
            <a:ext cx="10058400" cy="457200"/>
          </a:xfrm>
          <a:prstGeom prst="rect">
            <a:avLst/>
          </a:prstGeom>
          <a:noFill/>
        </p:spPr>
        <p:txBody>
          <a:bodyPr wrap="square">
            <a:spAutoFit/>
          </a:bodyPr>
          <a:lstStyle/>
          <a:p>
            <a:pPr algn="ctr">
              <a:defRPr sz="1400" b="0">
                <a:solidFill>
                  <a:srgbClr val="BDC3C7"/>
                </a:solidFill>
                <a:latin typeface="Calibri"/>
              </a:defRPr>
            </a:pPr>
            <a:r>
              <a:t>Moh. Khairul Umam | 202310370311448 | Pemodelan dan Simulasi Data B</a:t>
            </a:r>
          </a:p>
        </p:txBody>
      </p:sp>
      <p:sp>
        <p:nvSpPr>
          <p:cNvPr id="6" name="TextBox 5"/>
          <p:cNvSpPr txBox="1"/>
          <p:nvPr/>
        </p:nvSpPr>
        <p:spPr>
          <a:xfrm>
            <a:off x="914400" y="5303520"/>
            <a:ext cx="10058400" cy="457200"/>
          </a:xfrm>
          <a:prstGeom prst="rect">
            <a:avLst/>
          </a:prstGeom>
          <a:noFill/>
        </p:spPr>
        <p:txBody>
          <a:bodyPr wrap="square">
            <a:spAutoFit/>
          </a:bodyPr>
          <a:lstStyle/>
          <a:p>
            <a:pPr algn="ctr">
              <a:defRPr sz="1400" b="0">
                <a:solidFill>
                  <a:srgbClr val="7F8C8D"/>
                </a:solidFill>
                <a:latin typeface="Calibri"/>
              </a:defRPr>
            </a:pPr>
            <a:r>
              <a:t>github.com/Khairulumam92/Pemodelan-Simulasi-Data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